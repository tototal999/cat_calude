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5836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DBB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CLAUDECAT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234440"/>
            <a:ext cx="6766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讓公司內網 AI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自然走進每個人的桌面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49808" y="2651760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C9D8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 SOP｜快速提問、LLM 交談、文件分析與桌寵管理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31520" y="3703320"/>
            <a:ext cx="5806440" cy="1143000"/>
          </a:xfrm>
          <a:prstGeom prst="roundRect">
            <a:avLst>
              <a:gd name="adj" fmla="val 9600"/>
            </a:avLst>
          </a:prstGeom>
          <a:solidFill>
            <a:srgbClr val="14284D"/>
          </a:solidFill>
          <a:ln w="10160">
            <a:solidFill>
              <a:srgbClr val="31588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400507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不必上外網、不必開命令列、不必自行安裝模型。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87552" y="438912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C9D8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直接點貓咪，就能開始使用公司內網 AI。</a:t>
            </a:r>
            <a:endParaRPr lang="en-US" sz="1650" dirty="0"/>
          </a:p>
        </p:txBody>
      </p:sp>
      <p:pic>
        <p:nvPicPr>
          <p:cNvPr id="8" name="Image 0" descr="C:\Users\TF000054\claude\claude-cat\skins\bluecat\bluecat_idle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143000"/>
            <a:ext cx="3246120" cy="32461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65105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9D8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ClaudeCat  |  使用者 SOP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1292840" y="649224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9D8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234440" y="5029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產品定位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ClaudeCat 能做什麼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517904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把公司已提供的內網 AI，化成人人可用的桌面工具。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35204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D9E3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2468880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48716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44752" y="245059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直接提問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444752" y="2862072"/>
            <a:ext cx="24963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整理工作、解釋錯誤、協助撰寫與翻譯。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343400" y="2240280"/>
            <a:ext cx="35204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D9E3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44568" y="2468880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44568" y="248716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48072" y="245059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切換 LLM 介面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148072" y="2862072"/>
            <a:ext cx="24963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多輪對話、歷史紀錄、附件、JSON 與翻譯工具。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046720" y="2240280"/>
            <a:ext cx="35204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D9E3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47888" y="2468880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47888" y="248716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851392" y="245059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分析文件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851392" y="2862072"/>
            <a:ext cx="24963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將 PDF、Word、PPT、Excel 轉成可提問的本機索引。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40080" y="3913632"/>
            <a:ext cx="10927080" cy="1417320"/>
          </a:xfrm>
          <a:prstGeom prst="roundRect">
            <a:avLst>
              <a:gd name="adj" fmla="val 7742"/>
            </a:avLst>
          </a:prstGeom>
          <a:solidFill>
            <a:srgbClr val="E8F7F2"/>
          </a:solidFill>
          <a:ln w="10160">
            <a:solidFill>
              <a:srgbClr val="CFED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22452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7A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使用邊界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286000" y="4187952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聊天與文件問答使用公司內網 LLM；Claude／Codex 用量顯示完全獨立、預設關閉。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286000" y="4626864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一般使用者不需要外網 LLM 帳號、API Key 或自行設定模型。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94360" y="65105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ClaudeCat  |  使用者 SOP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1292840" y="649224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234440" y="5029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模型說明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目前使用的模型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517904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用模型名稱說明能力，不揭露端點、帳密或其他連線資訊。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5120640" cy="2697480"/>
          </a:xfrm>
          <a:prstGeom prst="roundRect">
            <a:avLst>
              <a:gd name="adj" fmla="val 4068"/>
            </a:avLst>
          </a:prstGeom>
          <a:solidFill>
            <a:srgbClr val="F1F6FF"/>
          </a:solidFill>
          <a:ln w="10160">
            <a:solidFill>
              <a:srgbClr val="C8D9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487168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公司內網預設模型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32688" y="2907792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Qwen/Qwen3.6-35B-A3B-FP8-nothink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32688" y="397764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聊天、文件問答與翻譯目前皆使用此預設模型。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172200" y="2148840"/>
            <a:ext cx="539496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0160">
            <a:solidFill>
              <a:srgbClr val="D9E3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73368" y="2377440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73368" y="239572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76872" y="235915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文件先檢索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976872" y="2770632"/>
            <a:ext cx="4370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文件助手先在本機找出相關段落與來源，再交由模型回答。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172200" y="3520440"/>
            <a:ext cx="539496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0160">
            <a:solidFill>
              <a:srgbClr val="D9E3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73368" y="3749040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3368" y="376732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76872" y="373075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JSON 不用模型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976872" y="4142232"/>
            <a:ext cx="4370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格式化、驗證、搜尋與 JSONPath 由本機確定性程式完成。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40080" y="5349240"/>
            <a:ext cx="10927080" cy="502920"/>
          </a:xfrm>
          <a:prstGeom prst="roundRect">
            <a:avLst>
              <a:gd name="adj" fmla="val 21818"/>
            </a:avLst>
          </a:prstGeom>
          <a:solidFill>
            <a:srgbClr val="FFF5E8"/>
          </a:solidFill>
          <a:ln w="10160">
            <a:solidFill>
              <a:srgbClr val="F3D5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495544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9A52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本機 llama.cpp sidecar 目前未啟用；Claude／Codex 只供選用的用量顯示，不會參與聊天。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594360" y="65105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ClaudeCat  |  使用者 SOP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292840" y="649224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234440" y="5029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導覽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Agenda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517904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10 分鐘掌握主要操作。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53035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0160">
            <a:solidFill>
              <a:srgbClr val="D9E3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2377440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39572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44752" y="235915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快速提問與長回答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444752" y="2770632"/>
            <a:ext cx="42793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不開大視窗也能取得即時答案；需要細節時展開卡片。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63640" y="2148840"/>
            <a:ext cx="53035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0160">
            <a:solidFill>
              <a:srgbClr val="D9E3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64808" y="2377440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64808" y="239572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068312" y="235915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切換 LLM 交談介面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068312" y="2770632"/>
            <a:ext cx="42793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多輪對話、歷史紀錄、附件、JSON、翻譯與 PPT 匯出。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0080" y="3703320"/>
            <a:ext cx="53035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0160">
            <a:solidFill>
              <a:srgbClr val="D9E3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3931920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395020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44752" y="391363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分析文件與來源引用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1444752" y="4325112"/>
            <a:ext cx="42793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建立本機索引，摘要、整理流程、比較與依來源問答。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263640" y="3703320"/>
            <a:ext cx="53035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0160">
            <a:solidFill>
              <a:srgbClr val="D9E3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64808" y="3931920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64808" y="395020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68312" y="391363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Skin、排程與安全結束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7068312" y="4325112"/>
            <a:ext cx="42793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讓桌寵融入工作習慣，並可安全保存設定。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94360" y="65105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ClaudeCat  |  使用者 SOP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1292840" y="649224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234440" y="5029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快速提問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一般問題，不必另開聊天視窗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517904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點一下貓咪，就在牠身旁輸入問題。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644652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0160">
            <a:solidFill>
              <a:srgbClr val="D9E3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2606040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9304" y="256032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 點一下貓咪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520440" y="2560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桌面貓咪旁會出現輕量輸入框。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60120" y="3227832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9304" y="318211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 輸入後按 Enter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20440" y="31821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直接送出給公司內網 AI。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960120" y="3849624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9304" y="380390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 短答案成氣泡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520440" y="38039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結果留在貓咪旁，不打斷目前工作。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68680" y="5074920"/>
            <a:ext cx="6080760" cy="566928"/>
          </a:xfrm>
          <a:prstGeom prst="roundRect">
            <a:avLst>
              <a:gd name="adj" fmla="val 19355"/>
            </a:avLst>
          </a:prstGeom>
          <a:solidFill>
            <a:srgbClr val="EEF5FF"/>
          </a:solidFill>
          <a:ln w="10160">
            <a:solidFill>
              <a:srgbClr val="D7E6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15568" y="5257800"/>
            <a:ext cx="5440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範例：今天的工作重點怎麼整理？</a:t>
            </a:r>
            <a:endParaRPr lang="en-US" sz="1600" dirty="0"/>
          </a:p>
        </p:txBody>
      </p:sp>
      <p:pic>
        <p:nvPicPr>
          <p:cNvPr id="18" name="Image 0" descr="C:\Users\TF000054\claude\claude-cat\skins\bluecat\bluecat_idle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920240"/>
            <a:ext cx="2834640" cy="283464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7406640" y="4800600"/>
            <a:ext cx="3977640" cy="731520"/>
          </a:xfrm>
          <a:prstGeom prst="roundRect">
            <a:avLst>
              <a:gd name="adj" fmla="val 15000"/>
            </a:avLst>
          </a:prstGeom>
          <a:solidFill>
            <a:srgbClr val="E5F3FF"/>
          </a:solidFill>
          <a:ln w="10160">
            <a:solidFill>
              <a:srgbClr val="C4E1F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726680" y="505663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短回答會直接留在貓咪旁。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594360" y="65105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ClaudeCat  |  使用者 SOP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11292840" y="649224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234440" y="5029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長回答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需要細節時，展開成貓咪旁的卡片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517904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它仍是桌面寵物的一部分，不是獨立的大型聊天程式。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68680" y="2240280"/>
            <a:ext cx="667512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0160">
            <a:solidFill>
              <a:srgbClr val="D9E3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26334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SQL Review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1188720" y="3227832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17904" y="318211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749040" y="31821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缺少 ORG_ID 條件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188720" y="3749040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17904" y="370332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4904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存在隱式型別轉換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188720" y="4270248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17904" y="422452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749040" y="4224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建議先確認執行計畫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188720" y="4800600"/>
            <a:ext cx="1188720" cy="365760"/>
          </a:xfrm>
          <a:prstGeom prst="roundRect">
            <a:avLst>
              <a:gd name="adj" fmla="val 30000"/>
            </a:avLst>
          </a:prstGeom>
          <a:solidFill>
            <a:srgbClr val="EEF5FF"/>
          </a:solidFill>
          <a:ln w="10160">
            <a:solidFill>
              <a:srgbClr val="C6DC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8720" y="490118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複製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2542032" y="4800600"/>
            <a:ext cx="1325880" cy="365760"/>
          </a:xfrm>
          <a:prstGeom prst="roundRect">
            <a:avLst>
              <a:gd name="adj" fmla="val 30000"/>
            </a:avLst>
          </a:prstGeom>
          <a:solidFill>
            <a:srgbClr val="EEF5FF"/>
          </a:solidFill>
          <a:ln w="10160">
            <a:solidFill>
              <a:srgbClr val="C6DC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42032" y="4901184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繼續問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023360" y="4800600"/>
            <a:ext cx="1188720" cy="365760"/>
          </a:xfrm>
          <a:prstGeom prst="roundRect">
            <a:avLst>
              <a:gd name="adj" fmla="val 30000"/>
            </a:avLst>
          </a:prstGeom>
          <a:solidFill>
            <a:srgbClr val="EEF5FF"/>
          </a:solidFill>
          <a:ln w="10160">
            <a:solidFill>
              <a:srgbClr val="C6DC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23360" y="490118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收合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8001000" y="2377440"/>
            <a:ext cx="320040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0160">
            <a:solidFill>
              <a:srgbClr val="D9E3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02168" y="2606040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02168" y="262432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805672" y="25877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複製答案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8805672" y="2999232"/>
            <a:ext cx="2176272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將結果帶到 Email、文件或系統。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8001000" y="3429000"/>
            <a:ext cx="320040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0160">
            <a:solidFill>
              <a:srgbClr val="D9E3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02168" y="3657600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02168" y="367588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805672" y="36393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繼續追問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8805672" y="4050792"/>
            <a:ext cx="2176272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沿著同一個問題補充細節。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8001000" y="4480560"/>
            <a:ext cx="320040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0160">
            <a:solidFill>
              <a:srgbClr val="D9E3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02168" y="4709160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02168" y="47274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805672" y="46908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完成後收合</a:t>
            </a:r>
            <a:endParaRPr lang="en-US" sz="1900" dirty="0"/>
          </a:p>
        </p:txBody>
      </p:sp>
      <p:sp>
        <p:nvSpPr>
          <p:cNvPr id="37" name="Text 35"/>
          <p:cNvSpPr/>
          <p:nvPr/>
        </p:nvSpPr>
        <p:spPr>
          <a:xfrm>
            <a:off x="8805672" y="5102352"/>
            <a:ext cx="2176272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把畫面還給正在進行的工作。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594360" y="65105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ClaudeCat  |  使用者 SOP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1292840" y="649224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234440" y="5029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交談介面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需要多輪對話或工具箱時，開啟完整介面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517904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右鍵點貓咪 → 選「交談…」。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342900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0160">
            <a:solidFill>
              <a:srgbClr val="D9E3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2423160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4414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44752" y="240487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多輪對話與歷史紀錄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444752" y="2816352"/>
            <a:ext cx="24048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從側欄回看、繼續或建立新的對話。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389120" y="2194560"/>
            <a:ext cx="342900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0160">
            <a:solidFill>
              <a:srgbClr val="D9E3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90288" y="2423160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0288" y="24414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93792" y="240487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附件與內容複製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193792" y="2816352"/>
            <a:ext cx="24048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將文字／Excel 加入問題；可複製 Markdown 與程式碼。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138160" y="2194560"/>
            <a:ext cx="342900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0160">
            <a:solidFill>
              <a:srgbClr val="D9E3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39328" y="2423160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39328" y="24414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942832" y="240487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工具箱與匯出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942832" y="2816352"/>
            <a:ext cx="24048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JSON、翻譯、Slash 快速提示詞，以及 PPTX 匯出。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40080" y="3886200"/>
            <a:ext cx="10927080" cy="1325880"/>
          </a:xfrm>
          <a:prstGeom prst="roundRect">
            <a:avLst>
              <a:gd name="adj" fmla="val 8276"/>
            </a:avLst>
          </a:prstGeom>
          <a:solidFill>
            <a:srgbClr val="0D1B35"/>
          </a:solidFill>
          <a:ln w="10160">
            <a:solidFill>
              <a:srgbClr val="0D1B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420624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DBB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何時該切換？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697480" y="4151376"/>
            <a:ext cx="8183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要追問、要整理較長內容、要查看歷史、使用附件或工具箱時；簡單問題仍直接點貓咪最快。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94360" y="65105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ClaudeCat  |  使用者 SOP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1292840" y="649224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234440" y="5029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文件助手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先分析文件，再依來源提問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517904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支援 PDF、Word、PowerPoint、Excel 等可讀取文件。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0160">
            <a:solidFill>
              <a:srgbClr val="D9E3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2468880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48716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44752" y="24505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選擇文件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444752" y="2862072"/>
            <a:ext cx="153619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右鍵點貓咪，選「文件助手…」。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337560" y="224028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0160">
            <a:solidFill>
              <a:srgbClr val="D9E3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38728" y="2468880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38728" y="248716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42232" y="24505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本機索引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142232" y="2862072"/>
            <a:ext cx="153619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等待文件完成本機分析與來源定位。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035040" y="224028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0160">
            <a:solidFill>
              <a:srgbClr val="D9E3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36208" y="2468880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36208" y="248716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39712" y="24505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整理內容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839712" y="2862072"/>
            <a:ext cx="153619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摘要、SOP、表格整理或比較文件。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8732520" y="224028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0160">
            <a:solidFill>
              <a:srgbClr val="D9E3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33688" y="2468880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33688" y="248716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537192" y="24505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依來源問答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9537192" y="2862072"/>
            <a:ext cx="153619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答案附頁碼、段落、投影片或儲存格。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40080" y="4160520"/>
            <a:ext cx="109270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9E3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46227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建議直接問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2468880" y="4443984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誰需要批准？　｜　這份文件在說什麼？　｜　有哪些注意事項？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14400" y="5440680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D960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文件未提及時，系統會明確告知「無法依文件確認」。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594360" y="65105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ClaudeCat  |  使用者 SOP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1292840" y="649224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234440" y="5029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工具箱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JSON 與翻譯：需要的地方才使用模型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517904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確定性工作交給本機工具；語意理解才交給內網 LLM。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5257800" cy="2971800"/>
          </a:xfrm>
          <a:prstGeom prst="roundRect">
            <a:avLst>
              <a:gd name="adj" fmla="val 3692"/>
            </a:avLst>
          </a:prstGeom>
          <a:solidFill>
            <a:srgbClr val="F1F6FF"/>
          </a:solidFill>
          <a:ln w="10160">
            <a:solidFill>
              <a:srgbClr val="C8D9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58775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JSON 工具（不呼叫 LLM）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60120" y="3218688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9304" y="317296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Format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520440" y="31729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格式化與 Minify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960120" y="3749040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9304" y="370332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Validate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20440" y="37033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顯示錯誤行與欄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960120" y="4279392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9304" y="423367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Search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520440" y="42336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搜尋與 JSONPath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263640" y="2240280"/>
            <a:ext cx="5303520" cy="2971800"/>
          </a:xfrm>
          <a:prstGeom prst="roundRect">
            <a:avLst>
              <a:gd name="adj" fmla="val 3692"/>
            </a:avLst>
          </a:prstGeom>
          <a:solidFill>
            <a:srgbClr val="F7FBF9"/>
          </a:solidFill>
          <a:ln w="10160">
            <a:solidFill>
              <a:srgbClr val="CFED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258775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7A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翻譯工具（使用內網 LLM）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583680" y="3218688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12864" y="317296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語言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144000" y="3172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英文／繁中、中英對照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583680" y="3749040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12864" y="370332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模式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144000" y="3703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一般、技術、商務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6583680" y="4279392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12864" y="423367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保護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44000" y="4233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SQL、程式碼、JSON Key、API path 與檔名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94360" y="65105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ClaudeCat  |  使用者 SOP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1292840" y="649224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234440" y="5029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外觀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切換 Skin，讓桌寵符合個人偏好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517904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右鍵點貓咪 → Skin → 選擇外觀；切換後立即生效並保留。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2240280"/>
            <a:ext cx="292608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0160">
            <a:solidFill>
              <a:srgbClr val="D9E3F0"/>
            </a:solidFill>
            <a:prstDash val="solid"/>
          </a:ln>
        </p:spPr>
      </p:sp>
      <p:pic>
        <p:nvPicPr>
          <p:cNvPr id="7" name="Image 0" descr="C:\Users\TF000054\claude\claude-cat\skins\bluecat\bluecat_idle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7632" y="2542032"/>
            <a:ext cx="1508760" cy="1508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43434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bluecat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188720" y="468172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右鍵 → Skin → 選擇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4709160" y="2240280"/>
            <a:ext cx="292608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0160">
            <a:solidFill>
              <a:srgbClr val="D9E3F0"/>
            </a:solidFill>
            <a:prstDash val="solid"/>
          </a:ln>
        </p:spPr>
      </p:sp>
      <p:pic>
        <p:nvPicPr>
          <p:cNvPr id="11" name="Image 1" descr="C:\Users\TF000054\claude\claude-cat\skins\cowcat\cowcat_idle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2392" y="2542032"/>
            <a:ext cx="1508760" cy="1508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83480" y="43434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cowcat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4983480" y="468172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右鍵 → Skin → 選擇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8503920" y="2240280"/>
            <a:ext cx="292608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0160">
            <a:solidFill>
              <a:srgbClr val="D9E3F0"/>
            </a:solidFill>
            <a:prstDash val="solid"/>
          </a:ln>
        </p:spPr>
      </p:sp>
      <p:pic>
        <p:nvPicPr>
          <p:cNvPr id="15" name="Image 2" descr="C:\Users\TF000054\claude\claude-cat\skins\ragdollcat\ragdollcat_idle_0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7152" y="2542032"/>
            <a:ext cx="1508760" cy="1508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778240" y="43434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ragdollcat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8778240" y="468172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右鍵 → Skin → 選擇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594360" y="65105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ClaudeCat  |  使用者 SOP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11292840" y="649224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234440" y="5029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選用功能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Claude／Codex 用量顯示可個別開關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517904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它們只顯示本機已安裝 App 的用量狀態；聊天與文件功能不依賴它。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34290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D9E3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2560320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57860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44752" y="25420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設定中個別開關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444752" y="2953512"/>
            <a:ext cx="24048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依需求開啟 Claude limits 或 Codex limits。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389120" y="2331720"/>
            <a:ext cx="34290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D9E3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90288" y="2560320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0288" y="257860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93792" y="25420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不影響主要功能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193792" y="2953512"/>
            <a:ext cx="24048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關閉後仍可使用快速提問、LLM 交談與文件助手。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138160" y="2331720"/>
            <a:ext cx="34290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D9E3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39328" y="2560320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39328" y="257860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942832" y="25420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沒有安裝也可用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942832" y="2953512"/>
            <a:ext cx="24048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偵測不到 Claude／Codex 時顯示 No use。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40080" y="4160520"/>
            <a:ext cx="10927080" cy="960120"/>
          </a:xfrm>
          <a:prstGeom prst="roundRect">
            <a:avLst>
              <a:gd name="adj" fmla="val 11429"/>
            </a:avLst>
          </a:prstGeom>
          <a:solidFill>
            <a:srgbClr val="FFF5E8"/>
          </a:solidFill>
          <a:ln w="10160">
            <a:solidFill>
              <a:srgbClr val="F3D5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4462272"/>
            <a:ext cx="10195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52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重要：對話不會呼叫 Claude 或 Codex；它們只是獨立的選用用量顯示。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94360" y="65105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ClaudeCat  |  使用者 SOP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292840" y="649224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234440" y="5029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桌寵管理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拖曳、系統匣與排程提醒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517904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維持既有桌面工作習慣，不必一直開著聊天視窗。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342900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0160">
            <a:solidFill>
              <a:srgbClr val="D9E3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2514600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53288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44752" y="249631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拖曳移動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444752" y="2907792"/>
            <a:ext cx="24048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左鍵拖曳貓咪或徽章；位置會保留。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389120" y="2286000"/>
            <a:ext cx="342900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0160">
            <a:solidFill>
              <a:srgbClr val="D9E3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90288" y="2514600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0288" y="253288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93792" y="249631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系統匣管理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193792" y="2907792"/>
            <a:ext cx="24048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顯示／隱藏、快速提問、文件助手與結束。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138160" y="2286000"/>
            <a:ext cx="342900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0160">
            <a:solidFill>
              <a:srgbClr val="D9E3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39328" y="2514600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39328" y="253288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942832" y="249631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排程提醒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942832" y="2907792"/>
            <a:ext cx="24048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右鍵選「排程…」，建立每日、每週或每小時提醒。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40080" y="4279392"/>
            <a:ext cx="1092708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0160">
            <a:solidFill>
              <a:srgbClr val="D9E3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4553712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工作列也會顯示 ClaudeCat，可用 Windows 的關閉按鈕安全結束程式。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594360" y="65105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ClaudeCat  |  使用者 SOP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292840" y="649224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867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85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DBB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使用原則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298448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直接點貓咪提問；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文件助手會附來源；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關閉請用系統匣。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3977640"/>
            <a:ext cx="6903720" cy="1024128"/>
          </a:xfrm>
          <a:prstGeom prst="roundRect">
            <a:avLst>
              <a:gd name="adj" fmla="val 10714"/>
            </a:avLst>
          </a:prstGeom>
          <a:solidFill>
            <a:srgbClr val="14284D"/>
          </a:solidFill>
          <a:ln w="10160">
            <a:solidFill>
              <a:srgbClr val="31588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" y="4315968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9D8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讓無法直接使用外網 LLM 的同事，也能以最低門檻使用公司內網 AI。</a:t>
            </a:r>
            <a:endParaRPr lang="en-US" sz="1900" dirty="0"/>
          </a:p>
        </p:txBody>
      </p:sp>
      <p:pic>
        <p:nvPicPr>
          <p:cNvPr id="6" name="Image 0" descr="C:\Users\TF000054\claude\claude-cat\skins\bluecat\bluecat_idle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371600"/>
            <a:ext cx="2377440" cy="2377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65105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9D8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ClaudeCat  |  使用者 SOP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1292840" y="649224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9D8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SUNON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ClaudeCat 使用者 SOP（投影版）</dc:title>
  <dc:subject>ClaudeCat 使用者 SOP</dc:subject>
  <dc:creator>ClaudeCat</dc:creator>
  <cp:lastModifiedBy>ClaudeCat</cp:lastModifiedBy>
  <cp:revision>1</cp:revision>
  <dcterms:created xsi:type="dcterms:W3CDTF">2026-07-19T02:13:03Z</dcterms:created>
  <dcterms:modified xsi:type="dcterms:W3CDTF">2026-07-19T02:13:03Z</dcterms:modified>
</cp:coreProperties>
</file>