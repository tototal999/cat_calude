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a482bae5204ec5" /><Relationship Type="http://schemas.openxmlformats.org/officeDocument/2006/relationships/extended-properties" Target="/docProps/app.xml" Id="Ra9e1ff247d2b4844" /><Relationship Type="http://schemas.openxmlformats.org/officeDocument/2006/relationships/officeDocument" Target="/ppt/presentation.xml" Id="Rbc5172dc43874a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0c5e69071e4d22"/>
  </p:sldMasterIdLst>
  <p:notesMasterIdLst>
    <p:notesMasterId xmlns:r="http://schemas.openxmlformats.org/officeDocument/2006/relationships" r:id="R037fe5872fba4e4a"/>
  </p:notesMasterIdLst>
  <p:sldIdLst>
    <p:sldId xmlns:r="http://schemas.openxmlformats.org/officeDocument/2006/relationships" id="256" r:id="R14375a9edbe14473"/>
    <p:sldId xmlns:r="http://schemas.openxmlformats.org/officeDocument/2006/relationships" id="257" r:id="Rc9bb553202a94415"/>
    <p:sldId xmlns:r="http://schemas.openxmlformats.org/officeDocument/2006/relationships" id="258" r:id="R5d1022c9448e4f87"/>
    <p:sldId xmlns:r="http://schemas.openxmlformats.org/officeDocument/2006/relationships" id="259" r:id="Rd5cd84f575004f88"/>
    <p:sldId xmlns:r="http://schemas.openxmlformats.org/officeDocument/2006/relationships" id="260" r:id="R9c10347bbf7d45c3"/>
    <p:sldId xmlns:r="http://schemas.openxmlformats.org/officeDocument/2006/relationships" id="261" r:id="Rf82d11fc6ede49d6"/>
    <p:sldId xmlns:r="http://schemas.openxmlformats.org/officeDocument/2006/relationships" id="262" r:id="Rc38522bfd33545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2cab343d7d4106" /><Relationship Type="http://schemas.openxmlformats.org/officeDocument/2006/relationships/slideMaster" Target="/ppt/slideMasters/slideMaster1.xml" Id="Rb50c5e69071e4d22" /><Relationship Type="http://schemas.openxmlformats.org/officeDocument/2006/relationships/notesMaster" Target="/ppt/notesMasters/notesMaster1.xml" Id="R037fe5872fba4e4a" /><Relationship Type="http://schemas.openxmlformats.org/officeDocument/2006/relationships/presProps" Target="/ppt/presProps.xml" Id="R03ee58838cb74442" /><Relationship Type="http://schemas.openxmlformats.org/officeDocument/2006/relationships/tableStyles" Target="/ppt/tableStyles.xml" Id="Rab98109c810b48e2" /><Relationship Type="http://schemas.openxmlformats.org/officeDocument/2006/relationships/slide" Target="/ppt/slides/slide1.xml" Id="R14375a9edbe14473" /><Relationship Type="http://schemas.openxmlformats.org/officeDocument/2006/relationships/slide" Target="/ppt/slides/slide2.xml" Id="Rc9bb553202a94415" /><Relationship Type="http://schemas.openxmlformats.org/officeDocument/2006/relationships/slide" Target="/ppt/slides/slide3.xml" Id="R5d1022c9448e4f87" /><Relationship Type="http://schemas.openxmlformats.org/officeDocument/2006/relationships/slide" Target="/ppt/slides/slide4.xml" Id="Rd5cd84f575004f88" /><Relationship Type="http://schemas.openxmlformats.org/officeDocument/2006/relationships/slide" Target="/ppt/slides/slide5.xml" Id="R9c10347bbf7d45c3" /><Relationship Type="http://schemas.openxmlformats.org/officeDocument/2006/relationships/slide" Target="/ppt/slides/slide6.xml" Id="Rf82d11fc6ede49d6" /><Relationship Type="http://schemas.openxmlformats.org/officeDocument/2006/relationships/slide" Target="/ppt/slides/slide7.xml" Id="Rc38522bfd33545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4f2edb875b43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4c4aa557434822" /><Relationship Type="http://schemas.openxmlformats.org/officeDocument/2006/relationships/notesMaster" Target="/ppt/notesMasters/notesMaster1.xml" Id="R1d5e4db3347c45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54f9a9352d4a96" /><Relationship Type="http://schemas.openxmlformats.org/officeDocument/2006/relationships/notesMaster" Target="/ppt/notesMasters/notesMaster1.xml" Id="R0567e3fbe60f4d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3de3c7c44c4770" /><Relationship Type="http://schemas.openxmlformats.org/officeDocument/2006/relationships/notesMaster" Target="/ppt/notesMasters/notesMaster1.xml" Id="Re350116b2ef44a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febb7f3eac4490" /><Relationship Type="http://schemas.openxmlformats.org/officeDocument/2006/relationships/notesMaster" Target="/ppt/notesMasters/notesMaster1.xml" Id="R65e881d86c4a47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5e2012718f41d9" /><Relationship Type="http://schemas.openxmlformats.org/officeDocument/2006/relationships/notesMaster" Target="/ppt/notesMasters/notesMaster1.xml" Id="Re486c3284c2146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de8995f84f4865" /><Relationship Type="http://schemas.openxmlformats.org/officeDocument/2006/relationships/notesMaster" Target="/ppt/notesMasters/notesMaster1.xml" Id="R55572309bbf347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cfd3dbc0c147b8" /><Relationship Type="http://schemas.openxmlformats.org/officeDocument/2006/relationships/notesMaster" Target="/ppt/notesMasters/notesMaster1.xml" Id="Rf5c62816751e44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e2584edb945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79b23ed2e1458b" /><Relationship Type="http://schemas.openxmlformats.org/officeDocument/2006/relationships/slideLayout" Target="/ppt/slideLayouts/slideLayout1.xml" Id="R94b6a8f6466546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b6a8f6466546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b44980d0040f5" /><Relationship Type="http://schemas.openxmlformats.org/officeDocument/2006/relationships/image" Target="/ppt/media/image.png" Id="Reb72fb8a3ee24627" /><Relationship Type="http://schemas.openxmlformats.org/officeDocument/2006/relationships/notesSlide" Target="/ppt/notesSlides/notesSlide1.xml" Id="Rcd2d0cc8bffd4a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d4c74588b4d0d" /><Relationship Type="http://schemas.openxmlformats.org/officeDocument/2006/relationships/image" Target="/ppt/media/image2.png" Id="R4a46e3ebc7f0415b" /><Relationship Type="http://schemas.openxmlformats.org/officeDocument/2006/relationships/notesSlide" Target="/ppt/notesSlides/notesSlide2.xml" Id="Rbf019e903f2e4d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20f6bd7f546ed" /><Relationship Type="http://schemas.openxmlformats.org/officeDocument/2006/relationships/image" Target="/ppt/media/image3.png" Id="R6007ee3840b14683" /><Relationship Type="http://schemas.openxmlformats.org/officeDocument/2006/relationships/notesSlide" Target="/ppt/notesSlides/notesSlide3.xml" Id="Re44034871f9247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7830e302f41e8" /><Relationship Type="http://schemas.openxmlformats.org/officeDocument/2006/relationships/image" Target="/ppt/media/image4.png" Id="R62c18f9806104dbb" /><Relationship Type="http://schemas.openxmlformats.org/officeDocument/2006/relationships/notesSlide" Target="/ppt/notesSlides/notesSlide4.xml" Id="R45f216039d1844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d0caa57c54c37" /><Relationship Type="http://schemas.openxmlformats.org/officeDocument/2006/relationships/notesSlide" Target="/ppt/notesSlides/notesSlide5.xml" Id="Rcc70f430ad3f4b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5726bf6474f9f" /><Relationship Type="http://schemas.openxmlformats.org/officeDocument/2006/relationships/notesSlide" Target="/ppt/notesSlides/notesSlide6.xml" Id="Ra70896def1df41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e3f39fc984de0" /><Relationship Type="http://schemas.openxmlformats.org/officeDocument/2006/relationships/notesSlide" Target="/ppt/notesSlides/notesSlide7.xml" Id="R6fef77246d094e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B8229-A091-4E20-82CC-0DAECB9F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10125" cy="6858000"/>
          </a:xfrm>
          <a:prstGeom xmlns:a="http://schemas.openxmlformats.org/drawingml/2006/main" prst="roundRect">
            <a:avLst>
              <a:gd name="adj" fmla="val 237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19E95-375E-4D5F-9185-CE0D2903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CE6FA"/>
                </a:solidFill>
              </a:defRPr>
            </a:pPr>
            <a:r>
              <a:rPr sz="1050" b="1">
                <a:solidFill>
                  <a:srgbClr val="BCE6FA"/>
                </a:solidFill>
              </a:rPr>
              <a:t>CLAUDECAT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7EE00-2118-43DA-AF1A-FDADD2B3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使用者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080DD-BFB2-4E18-A593-31977C54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2EA"/>
                </a:solidFill>
              </a:defRPr>
            </a:pPr>
            <a:r>
              <a:rPr sz="1500" b="0">
                <a:solidFill>
                  <a:srgbClr val="D5E2EA"/>
                </a:solidFill>
              </a:rPr>
              <a:t>在桌面直接提問、讀文件、</a:t>
            </a:r>
          </a:p>
          <a:p xmlns:a="http://schemas.openxmlformats.org/drawingml/2006/main">
            <a:pPr algn="l">
              <a:defRPr sz="1500" b="0">
                <a:solidFill>
                  <a:srgbClr val="D5E2EA"/>
                </a:solidFill>
              </a:defRPr>
            </a:pPr>
            <a:r>
              <a:rPr sz="1500" b="0">
                <a:solidFill>
                  <a:srgbClr val="D5E2EA"/>
                </a:solidFill>
              </a:rPr>
              <a:t>隨時安全結束。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B95FB-FF8E-4294-BC5C-B79942B7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1257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1374B"/>
          </a:solidFill>
          <a:ln xmlns:a="http://schemas.openxmlformats.org/drawingml/2006/main" w="0">
            <a:solidFill>
              <a:srgbClr val="2137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91BAD-1F33-48B4-BE5A-F52C5A1D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CE6FA"/>
                </a:solidFill>
              </a:defRPr>
            </a:pPr>
            <a:r>
              <a:rPr sz="900" b="1">
                <a:solidFill>
                  <a:srgbClr val="BCE6FA"/>
                </a:solidFill>
              </a:rPr>
              <a:t>一般同事版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E11BD-317C-4FC8-847E-7256626F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53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DC9"/>
                </a:solidFill>
              </a:defRPr>
            </a:pPr>
            <a:r>
              <a:rPr sz="900" b="0">
                <a:solidFill>
                  <a:srgbClr val="A9BDC9"/>
                </a:solidFill>
              </a:rPr>
              <a:t>2026.07  |  v3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21CB4-FD7B-4550-A1CD-C04B439F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800100"/>
            <a:ext cx="5810250" cy="52578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7502E-A8C8-4D26-8C0A-9A2F23D1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382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</a:defRPr>
            </a:pPr>
            <a:r>
              <a:rPr sz="2250" b="1">
                <a:solidFill>
                  <a:srgbClr val="101820"/>
                </a:solidFill>
              </a:rPr>
              <a:t>把問題帶給貓咪，</a:t>
            </a:r>
          </a:p>
          <a:p xmlns:a="http://schemas.openxmlformats.org/drawingml/2006/main">
            <a:pPr algn="l">
              <a:defRPr sz="2250" b="1">
                <a:solidFill>
                  <a:srgbClr val="101820"/>
                </a:solidFill>
              </a:defRPr>
            </a:pPr>
            <a:r>
              <a:rPr sz="2250" b="1">
                <a:solidFill>
                  <a:srgbClr val="101820"/>
                </a:solidFill>
              </a:rPr>
              <a:t>把答案留在你的電腦上。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87096-2C3A-43C8-AE04-CCC7F834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0"/>
                </a:solidFill>
              </a:defRPr>
            </a:pPr>
            <a:r>
              <a:rPr sz="1275" b="0">
                <a:solidFill>
                  <a:srgbClr val="526170"/>
                </a:solidFill>
              </a:rPr>
              <a:t>聊天、文件問答與結束操作，</a:t>
            </a:r>
          </a:p>
          <a:p xmlns:a="http://schemas.openxmlformats.org/drawingml/2006/main">
            <a:pPr algn="l">
              <a:defRPr sz="1275" b="0">
                <a:solidFill>
                  <a:srgbClr val="526170"/>
                </a:solidFill>
              </a:defRPr>
            </a:pPr>
            <a:r>
              <a:rPr sz="1275" b="0">
                <a:solidFill>
                  <a:srgbClr val="526170"/>
                </a:solidFill>
              </a:rPr>
              <a:t>三分鐘即可上手。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2fb8a3ee24627"/>
          <a:stretch xmlns:a="http://schemas.openxmlformats.org/drawingml/2006/main"/>
        </p:blipFill>
        <p:spPr>
          <a:xfrm xmlns:a="http://schemas.openxmlformats.org/drawingml/2006/main">
            <a:off x="7325733" y="2857500"/>
            <a:ext cx="2303034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2CD1B-11DB-46D4-8073-803F34AA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14950"/>
            <a:ext cx="8191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0">
            <a:solidFill>
              <a:srgbClr val="F5FA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8B574-375C-4176-87F0-519C6D9B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911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聊天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D9FB3-E69E-4F80-89CC-2E195C2A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149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0">
            <a:solidFill>
              <a:srgbClr val="F5FA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B77A6-B374-41DA-9BAD-100D3F53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911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文件助手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98F4C-9393-4AF2-BF6C-B4C9FFE9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14950"/>
            <a:ext cx="952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0">
            <a:solidFill>
              <a:srgbClr val="F5FA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237D0-7873-4CBE-B95D-512B4F1F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911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系統匣</a:t>
            </a:r>
          </a:p>
        </p:txBody>
      </p:sp>
    </p:spTree>
    <p:extLst>
      <p:ext uri="{BB962C8B-B14F-4D97-AF65-F5344CB8AC3E}">
        <p14:creationId xmlns:p14="http://schemas.microsoft.com/office/powerpoint/2010/main" val="11798612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E7CA9C-2D0C-497B-B068-630A2C92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CD9B4-28FD-4E5D-9750-1C08B1DF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0"/>
                </a:solidFill>
              </a:defRPr>
            </a:pPr>
            <a:r>
              <a:rPr sz="900" b="1">
                <a:solidFill>
                  <a:srgbClr val="526170"/>
                </a:solidFill>
              </a:rPr>
              <a:t>開始使用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59C0D-7D43-43B2-9205-B8B2AB04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</a:defRPr>
            </a:pPr>
            <a:r>
              <a:rPr sz="2550" b="1">
                <a:solidFill>
                  <a:srgbClr val="101820"/>
                </a:solidFill>
              </a:rPr>
              <a:t>先認識 ClaudeCat 在哪裡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B1BA9-012A-4CBB-9551-21EB2703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貓咪常駐桌面；點一下即可快速提問。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4223A-2EC5-4ED6-BC7C-58F10993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32BBF-5DA1-4C07-921E-16763B71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5532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6e3ebc7f0415b"/>
          <a:stretch xmlns:a="http://schemas.openxmlformats.org/drawingml/2006/main"/>
        </p:blipFill>
        <p:spPr>
          <a:xfrm xmlns:a="http://schemas.openxmlformats.org/drawingml/2006/main">
            <a:off x="1210733" y="2571750"/>
            <a:ext cx="5350933" cy="3009900"/>
          </a:xfrm>
          <a:prstGeom xmlns:a="http://schemas.openxmlformats.org/drawingml/2006/main" prst="roundRect">
            <a:avLst>
              <a:gd name="adj" fmla="val 379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DB2DF-2457-4DA8-95A7-093D6817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37338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4DF4E-9497-4230-A73B-77F9C3F0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95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你會看到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69DDF-B8A8-4D79-B427-8A877D43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33725"/>
            <a:ext cx="3143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7BDA6-D3F3-4C5A-8656-BA873CF2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05175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F900B-547B-4666-83DA-5E3B81BD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890EF-136B-47F8-AB11-6E7E45D8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6232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</a:defRPr>
            </a:pPr>
            <a:r>
              <a:rPr sz="1125" b="1">
                <a:solidFill>
                  <a:srgbClr val="101820"/>
                </a:solidFill>
              </a:rPr>
              <a:t>桌面上的藍色貓咪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09BAC-2850-4DEA-BD9A-2D7DF96E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24325"/>
            <a:ext cx="3143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6A8CF-D8C2-4BCA-B07D-5CA5B4BE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95775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62122-F09A-46CD-8523-D701B7F4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62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89AC6-BAAA-4196-8A32-494182E7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5292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</a:defRPr>
            </a:pPr>
            <a:r>
              <a:rPr sz="1125" b="1">
                <a:solidFill>
                  <a:srgbClr val="101820"/>
                </a:solidFill>
              </a:rPr>
              <a:t>點擊後在旁邊輸入問題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B624E-FA9A-43EC-AA66-B22C9D2D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14925"/>
            <a:ext cx="3143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90AEE-F191-4A9A-BB9C-C8F63B8A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86375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EBA90-1334-44E6-B136-66B073B3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53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692D13-087F-443F-B227-AD0A2E41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4352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</a:defRPr>
            </a:pPr>
            <a:r>
              <a:rPr sz="1125" b="1">
                <a:solidFill>
                  <a:srgbClr val="101820"/>
                </a:solidFill>
              </a:rPr>
              <a:t>工作列／系統匣可管理程式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88B40-A08B-4EFC-8EB3-20962077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ClaudeCat  |  使用者 SOP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4C9EE-7049-45BA-B615-CBF91D88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0"/>
                </a:solidFill>
              </a:defRPr>
            </a:pPr>
            <a:r>
              <a:rPr sz="900" b="1">
                <a:solidFill>
                  <a:srgbClr val="5261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5530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70ECA-DC06-4037-9D20-0DAA209D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AC521-08DB-46FE-92DD-A482A7CE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0"/>
                </a:solidFill>
              </a:defRPr>
            </a:pPr>
            <a:r>
              <a:rPr sz="900" b="1">
                <a:solidFill>
                  <a:srgbClr val="526170"/>
                </a:solidFill>
              </a:rPr>
              <a:t>快速提問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F8AF2-D393-4F09-8404-F74942FA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</a:defRPr>
            </a:pPr>
            <a:r>
              <a:rPr sz="2550" b="1">
                <a:solidFill>
                  <a:srgbClr val="101820"/>
                </a:solidFill>
              </a:rPr>
              <a:t>一般問題，不必另開聊天視窗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FC969-B6BA-4C9A-8077-FDBF6BCB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點擊貓咪後，在牠身旁的小輸入框直接打字。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C5B82-FED1-493A-AA0B-F36A2D36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2119D-9D7A-47D8-BDA2-D517D998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6191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89587-B55F-4AD2-B315-7B07DC80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1  點一下貓咪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8BEE1-9A92-4C3E-B06A-59421F09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2  輸入問題後按 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1B348-C652-4E23-ADC4-BC26CDE8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3  短答案直接顯示成氣泡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2DD64-30A2-4587-BFAA-A78CA933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3886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0">
            <a:solidFill>
              <a:srgbClr val="BCE6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31037-34D4-4E9B-B974-DA4DBB56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例：今天的工作重點怎麼整理？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15F8B-AFEC-468A-A498-6D146454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76700"/>
            <a:ext cx="1428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D2490-A0F8-42C3-900C-6E6C729E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767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Enter 送出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7ee3840b14683"/>
          <a:stretch xmlns:a="http://schemas.openxmlformats.org/drawingml/2006/main"/>
        </p:blipFill>
        <p:spPr>
          <a:xfrm xmlns:a="http://schemas.openxmlformats.org/drawingml/2006/main">
            <a:off x="7972425" y="2520597"/>
            <a:ext cx="2476500" cy="2293056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5E5DF-27A6-41C1-A0B4-1B87A41B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3962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F4FF"/>
          </a:solidFill>
          <a:ln xmlns:a="http://schemas.openxmlformats.org/drawingml/2006/main" w="0">
            <a:solidFill>
              <a:srgbClr val="BCE6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19502-6422-4FEF-B3F6-2A83A017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720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</a:defRPr>
            </a:pPr>
            <a:r>
              <a:rPr sz="1125" b="1">
                <a:solidFill>
                  <a:srgbClr val="101820"/>
                </a:solidFill>
              </a:rPr>
              <a:t>短回答會留在貓咪旁，不會彈出新視窗。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0EFA9-FAC3-434D-AEAE-66FCC1AF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ClaudeCat  |  使用者 SOP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E3FDC-56B4-48E5-9921-FB8CF240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0"/>
                </a:solidFill>
              </a:defRPr>
            </a:pPr>
            <a:r>
              <a:rPr sz="900" b="1">
                <a:solidFill>
                  <a:srgbClr val="5261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20213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53423-7CCE-4F6E-A993-0E29778A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7D481-B030-49FF-B933-9D3C1F60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0"/>
                </a:solidFill>
              </a:defRPr>
            </a:pPr>
            <a:r>
              <a:rPr sz="900" b="1">
                <a:solidFill>
                  <a:srgbClr val="526170"/>
                </a:solidFill>
              </a:rPr>
              <a:t>長回答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04254-6A46-4C3E-B167-BF37FEC9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</a:defRPr>
            </a:pPr>
            <a:r>
              <a:rPr sz="2550" b="1">
                <a:solidFill>
                  <a:srgbClr val="101820"/>
                </a:solidFill>
              </a:rPr>
              <a:t>需要細節時，展開成寵物旁的卡片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A3CC0-8933-407D-8B6B-F6B35932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它仍然屬於桌面寵物，而不是一個獨立的大型聊天程式。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7A61C-02F8-451A-BE9F-74E8F20F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CB07B-7B64-47A7-8E4D-5109F1D8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72580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0DB70-A4F1-478F-91DD-48AD073E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SQL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2457F-D2FE-42A0-BD47-DC4BCFB4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E6FA"/>
          </a:solidFill>
          <a:ln xmlns:a="http://schemas.openxmlformats.org/drawingml/2006/main" w="0">
            <a:solidFill>
              <a:srgbClr val="BCE6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C222A-899F-4E0B-9B46-3D9061FE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4476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1. 缺少 ORG_ID 條件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2. 存在隱式型別轉換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3. 建議先確認執行計畫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D6B82-C528-4401-A8B4-CDA00996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0">
            <a:solidFill>
              <a:srgbClr val="F5F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365A2-C714-4324-8638-ED095CB6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29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複製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D3EC2-CF34-47B6-95BB-4F4138D5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953000"/>
            <a:ext cx="952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0">
            <a:solidFill>
              <a:srgbClr val="F5FA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B2770-781E-4284-99DF-53F5F25F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0292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繼續問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7BCF0-E943-4FEA-9DAD-E6714885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53000"/>
            <a:ext cx="85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0">
            <a:solidFill>
              <a:srgbClr val="EAF7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73C33-F84B-427E-8DC7-188B0EA2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29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06A"/>
                </a:solidFill>
              </a:defRPr>
            </a:pPr>
            <a:r>
              <a:rPr sz="900" b="1">
                <a:solidFill>
                  <a:srgbClr val="16806A"/>
                </a:solidFill>
              </a:rPr>
              <a:t>收合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18f9806104dbb"/>
          <a:stretch xmlns:a="http://schemas.openxmlformats.org/drawingml/2006/main"/>
        </p:blipFill>
        <p:spPr>
          <a:xfrm xmlns:a="http://schemas.openxmlformats.org/drawingml/2006/main">
            <a:off x="8334375" y="2920411"/>
            <a:ext cx="2238375" cy="1826803"/>
          </a:xfrm>
          <a:prstGeom xmlns:a="http://schemas.openxmlformats.org/drawingml/2006/main" prst="roundRect">
            <a:avLst>
              <a:gd name="adj" fmla="val 5106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81C6B-468E-4C1C-AD99-FE0DED52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91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小技巧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7C245-6910-4172-B6F9-D149BE8B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429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170"/>
                </a:solidFill>
              </a:defRPr>
            </a:pPr>
            <a:r>
              <a:rPr sz="1050" b="0">
                <a:solidFill>
                  <a:srgbClr val="526170"/>
                </a:solidFill>
              </a:rPr>
              <a:t>可複製答案、繼續追問，</a:t>
            </a:r>
          </a:p>
          <a:p xmlns:a="http://schemas.openxmlformats.org/drawingml/2006/main">
            <a:pPr algn="ctr">
              <a:defRPr sz="1050" b="0">
                <a:solidFill>
                  <a:srgbClr val="526170"/>
                </a:solidFill>
              </a:defRPr>
            </a:pPr>
            <a:r>
              <a:rPr sz="1050" b="0">
                <a:solidFill>
                  <a:srgbClr val="526170"/>
                </a:solidFill>
              </a:rPr>
              <a:t>完成後按「收合」。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F65E9-B805-4492-AD1E-067D80C3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ClaudeCat  |  使用者 SOP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57AB3C-0ECB-4997-A098-AB79DBAF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0"/>
                </a:solidFill>
              </a:defRPr>
            </a:pPr>
            <a:r>
              <a:rPr sz="900" b="1">
                <a:solidFill>
                  <a:srgbClr val="5261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8271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F2C7A6-ECDC-49DD-BD68-2D9566E1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7D511-5607-4D5B-B492-E614843B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0"/>
                </a:solidFill>
              </a:defRPr>
            </a:pPr>
            <a:r>
              <a:rPr sz="900" b="1">
                <a:solidFill>
                  <a:srgbClr val="526170"/>
                </a:solidFill>
              </a:rPr>
              <a:t>文件助手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92139-CC48-43C3-AB2A-53ACD6CB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</a:defRPr>
            </a:pPr>
            <a:r>
              <a:rPr sz="2550" b="1">
                <a:solidFill>
                  <a:srgbClr val="101820"/>
                </a:solidFill>
              </a:rPr>
              <a:t>把文件交給貓咪，再依來源提問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BE8D7-BF95-4A0B-997A-81C03ADB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適用 PDF、Word、PowerPoint、Excel 等可讀取文件。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F5B3E-502E-46C2-BA99-3C990C13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129BD-7692-46E6-93D0-E50EFE75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05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DA7F3-72ED-447F-B951-40EB3889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00063-B7BD-400F-8701-4F5FE752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52B91-916A-4563-8233-20DCA440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</a:defRPr>
            </a:pPr>
            <a:r>
              <a:rPr sz="1125" b="1">
                <a:solidFill>
                  <a:srgbClr val="101820"/>
                </a:solidFill>
              </a:rPr>
              <a:t>右鍵點貓咪，選「文件助手…」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C785A-7AEE-4E79-AE2B-0EF9C492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71750"/>
            <a:ext cx="3105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8D44D-F5DE-4B80-A32D-67CCFBFB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43200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84D57-3596-4BE6-9E07-709836A5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098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C74FC-B523-445D-B05C-8543A598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</a:defRPr>
            </a:pPr>
            <a:r>
              <a:rPr sz="1125" b="1">
                <a:solidFill>
                  <a:srgbClr val="101820"/>
                </a:solidFill>
              </a:rPr>
              <a:t>選擇文件，等待分析完成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4CD0C-F571-4558-84AB-9270DADF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31051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961F2-DD43-4013-AE42-C708C18A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43200"/>
            <a:ext cx="342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4AD72-52FB-4855-9B65-B5B3AC4A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098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EC56C-BA0F-4126-A44A-EC52BB28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003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</a:defRPr>
            </a:pPr>
            <a:r>
              <a:rPr sz="1125" b="1">
                <a:solidFill>
                  <a:srgbClr val="101820"/>
                </a:solidFill>
              </a:rPr>
              <a:t>提問並查看來源引用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0B402-601C-450E-8D27-D0329C6C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76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70"/>
                </a:solidFill>
              </a:defRPr>
            </a:pPr>
            <a:r>
              <a:rPr sz="1200" b="1">
                <a:solidFill>
                  <a:srgbClr val="526170"/>
                </a:solidFill>
              </a:rPr>
              <a:t>例：誰需要批准？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B7AF0-7427-40B6-AB4B-2E173D13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766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70"/>
                </a:solidFill>
              </a:defRPr>
            </a:pPr>
            <a:r>
              <a:rPr sz="1200" b="1">
                <a:solidFill>
                  <a:srgbClr val="526170"/>
                </a:solidFill>
              </a:rPr>
              <a:t>例：這份文件在說什麼？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74E19-D844-4FEF-BABE-080249D3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766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70"/>
                </a:solidFill>
              </a:defRPr>
            </a:pPr>
            <a:r>
              <a:rPr sz="1200" b="1">
                <a:solidFill>
                  <a:srgbClr val="526170"/>
                </a:solidFill>
              </a:rPr>
              <a:t>例：有哪些注意事項？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974BF-E369-4220-8011-74538A9B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9658350" cy="111442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BA67D7-C274-408E-938A-0AC52843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回答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04D2F3-704E-440E-B8B7-240F3793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付款期限為 30 天。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C24D2-FB10-425D-9153-947F3224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19675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0"/>
                </a:solidFill>
              </a:defRPr>
            </a:pPr>
            <a:r>
              <a:rPr sz="1125" b="0">
                <a:solidFill>
                  <a:srgbClr val="526170"/>
                </a:solidFill>
              </a:rPr>
              <a:t>來源：採購流程.pdf · 第 8 頁 ·「付款條款」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A3028A-7125-428C-A4E4-77846A25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666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7519"/>
                </a:solidFill>
              </a:defRPr>
            </a:pPr>
            <a:r>
              <a:rPr sz="1050" b="1">
                <a:solidFill>
                  <a:srgbClr val="D87519"/>
                </a:solidFill>
              </a:rPr>
              <a:t>文件未提及時，會明確告知無法依文件確認。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E7B028-1303-491A-B418-F9CDC23C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ClaudeCat  |  使用者 SOP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B700C1-5488-4574-993E-A262657A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0"/>
                </a:solidFill>
              </a:defRPr>
            </a:pPr>
            <a:r>
              <a:rPr sz="900" b="1">
                <a:solidFill>
                  <a:srgbClr val="5261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5335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C45A1-31B9-4A71-A318-3CFB1D4A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C0D00-5D2B-4B50-B6AD-E3D69038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0"/>
                </a:solidFill>
              </a:defRPr>
            </a:pPr>
            <a:r>
              <a:rPr sz="900" b="1">
                <a:solidFill>
                  <a:srgbClr val="526170"/>
                </a:solidFill>
              </a:rPr>
              <a:t>用量顯示（選用）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8705B-8572-4C59-A508-9D4803DD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</a:defRPr>
            </a:pPr>
            <a:r>
              <a:rPr sz="2550" b="1">
                <a:solidFill>
                  <a:srgbClr val="101820"/>
                </a:solidFill>
              </a:rPr>
              <a:t>Claude / Codex 用量可個別開關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E39E6-0CDA-4072-B7EF-DDD4BBE5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這只讀取已安裝桌面 App 的本機資料；聊天與文件功能不依賴它。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010D1-FB95-4606-AFA2-591FFB44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25C79-785A-486C-A7BF-F09F27D7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143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EE83A-B51E-422A-87D6-8189072E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設定 → 用量顯示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7D11C-BA96-4F70-8753-34317827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</a:defRPr>
            </a:pPr>
            <a:r>
              <a:rPr sz="1200" b="0">
                <a:solidFill>
                  <a:srgbClr val="101820"/>
                </a:solidFill>
              </a:rPr>
              <a:t>Claude limits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27C68-99C4-4722-8011-49E11452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71850"/>
            <a:ext cx="12001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4F4FF"/>
          </a:solidFill>
          <a:ln xmlns:a="http://schemas.openxmlformats.org/drawingml/2006/main" w="0">
            <a:solidFill>
              <a:srgbClr val="E4F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76C57-32CE-4CF8-9826-614CADBD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4805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ON / 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1273B-948D-4FAD-9DC3-8FE29F9A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</a:defRPr>
            </a:pPr>
            <a:r>
              <a:rPr sz="1200" b="0">
                <a:solidFill>
                  <a:srgbClr val="101820"/>
                </a:solidFill>
              </a:rPr>
              <a:t>Codex limits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3CD9B-086B-4B71-A37F-904170D0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62400"/>
            <a:ext cx="12001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4F4FF"/>
          </a:solidFill>
          <a:ln xmlns:a="http://schemas.openxmlformats.org/drawingml/2006/main" w="0">
            <a:solidFill>
              <a:srgbClr val="E4F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ED5FB-1229-4504-80AB-61CD4ABF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386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ON / 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069F2-E3BA-4BF7-AF34-4DBA5734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0"/>
                </a:solidFill>
              </a:defRPr>
            </a:pPr>
            <a:r>
              <a:rPr sz="1050" b="0">
                <a:solidFill>
                  <a:srgbClr val="526170"/>
                </a:solidFill>
              </a:rPr>
              <a:t>偵測不到 App 時：No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31499-A3BF-4CF4-AB21-3998A5C7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43624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291DF-A6D8-4861-8F55-4DAF8EF9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146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CE6FA"/>
                </a:solidFill>
              </a:defRPr>
            </a:pPr>
            <a:r>
              <a:rPr sz="1050" b="1">
                <a:solidFill>
                  <a:srgbClr val="BCE6FA"/>
                </a:solidFill>
              </a:rPr>
              <a:t>重要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F1F42-FF16-45C3-B1CA-B39DA3C8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05175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關掉用量顯示，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不影響聊天或文件問答。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60C33-7777-408D-A60C-626501D9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243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5E2EA"/>
                </a:solidFill>
              </a:defRPr>
            </a:pPr>
            <a:r>
              <a:rPr sz="1050" b="0">
                <a:solidFill>
                  <a:srgbClr val="D5E2EA"/>
                </a:solidFill>
              </a:rPr>
              <a:t>沒有安裝 Claude 或 Codex，也可正常使用 ClaudeCat。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E55BE-6410-43DF-8440-62A3B3C6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ClaudeCat  |  使用者 SOP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DFF218-1D85-4002-B63C-78F9E7E1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0"/>
                </a:solidFill>
              </a:defRPr>
            </a:pPr>
            <a:r>
              <a:rPr sz="900" b="1">
                <a:solidFill>
                  <a:srgbClr val="5261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5814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DCF37-5CB0-4D56-82AB-A6C250A3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40296-5986-4573-A66E-AAF3F9CD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0"/>
                </a:solidFill>
              </a:defRPr>
            </a:pPr>
            <a:r>
              <a:rPr sz="900" b="1">
                <a:solidFill>
                  <a:srgbClr val="526170"/>
                </a:solidFill>
              </a:rPr>
              <a:t>結束與排除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64DF1-65F6-46F1-AEBE-0067F525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</a:defRPr>
            </a:pPr>
            <a:r>
              <a:rPr sz="2550" b="1">
                <a:solidFill>
                  <a:srgbClr val="101820"/>
                </a:solidFill>
              </a:rPr>
              <a:t>從系統匣關閉；遇到問題先看提示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126F5-7E9B-4C13-8169-D558992E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0"/>
                </a:solidFill>
              </a:defRPr>
            </a:pPr>
            <a:r>
              <a:rPr sz="1200" b="0">
                <a:solidFill>
                  <a:srgbClr val="526170"/>
                </a:solidFill>
              </a:rPr>
              <a:t>避免直接強制結束，讓程式安全保存設定。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4BCC8-56C8-4317-A8FF-064FC675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85523-BA00-426E-8AAC-300CB457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8768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4F1CF-7E92-43F6-839B-AEE8AD6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289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安全結束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359B6-4854-410E-B428-7A9EB01E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1  在工作列右下角找 ClaudeCat 圖示</a:t>
            </a:r>
          </a:p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2  右鍵點選「結束」</a:t>
            </a:r>
          </a:p>
          <a:p xmlns:a="http://schemas.openxmlformats.org/drawingml/2006/main">
            <a:pPr algn="l">
              <a:defRPr sz="1275" b="0">
                <a:solidFill>
                  <a:srgbClr val="101820"/>
                </a:solidFill>
              </a:defRPr>
            </a:pPr>
            <a:r>
              <a:rPr sz="1275" b="0">
                <a:solidFill>
                  <a:srgbClr val="101820"/>
                </a:solidFill>
              </a:rPr>
              <a:t>3  確認貓咪已從桌面消失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A6E13-333D-45D5-9FAF-1A439272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1752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0">
            <a:solidFill>
              <a:srgbClr val="EAF7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1F04A-E282-4E02-A037-C216453C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06A"/>
                </a:solidFill>
              </a:defRPr>
            </a:pPr>
            <a:r>
              <a:rPr sz="900" b="1">
                <a:solidFill>
                  <a:srgbClr val="16806A"/>
                </a:solidFill>
              </a:rPr>
              <a:t>系統匣 → 結束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7B053-CE08-4D84-92AB-5D57AE72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14600"/>
            <a:ext cx="47625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9E5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ED9FB-6C0C-43AD-A245-01A41B9D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289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常見提示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5A20B-C055-4E07-9B12-02E56979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86125"/>
            <a:ext cx="3924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0"/>
                </a:solidFill>
              </a:defRPr>
            </a:pPr>
            <a:r>
              <a:rPr sz="1125" b="0">
                <a:solidFill>
                  <a:srgbClr val="526170"/>
                </a:solidFill>
              </a:rPr>
              <a:t>缺少模型／服務：請聯絡 IT 安裝公司提供的版本。</a:t>
            </a:r>
          </a:p>
          <a:p xmlns:a="http://schemas.openxmlformats.org/drawingml/2006/main">
            <a:pPr algn="l">
              <a:defRPr sz="1125" b="0">
                <a:solidFill>
                  <a:srgbClr val="526170"/>
                </a:solidFill>
              </a:defRPr>
            </a:pPr>
            <a:r>
              <a:rPr sz="1125" b="0">
                <a:solidFill>
                  <a:srgbClr val="526170"/>
                </a:solidFill>
              </a:rPr>
              <a:t>掃描型 PDF：需要 OCR 才能讀取文字。</a:t>
            </a:r>
          </a:p>
          <a:p xmlns:a="http://schemas.openxmlformats.org/drawingml/2006/main">
            <a:pPr algn="l">
              <a:defRPr sz="1125" b="0">
                <a:solidFill>
                  <a:srgbClr val="526170"/>
                </a:solidFill>
              </a:defRPr>
            </a:pPr>
            <a:r>
              <a:rPr sz="1125" b="0">
                <a:solidFill>
                  <a:srgbClr val="526170"/>
                </a:solidFill>
              </a:rPr>
              <a:t>文件無資料：改問文件內確實出現的內容。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41A10-43A0-48F4-AC32-08879F56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039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D439D-F299-4FFF-B435-5B28BF71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15025"/>
            <a:ext cx="965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記住：直接點貓咪提問；文件助手會附來源；關閉請用系統匣。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C0215-F2DB-47FD-9CCE-6C8C47A5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ClaudeCat  |  使用者 SOP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36D6A-1730-481F-83EA-0AC4E90F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0"/>
                </a:solidFill>
              </a:defRPr>
            </a:pPr>
            <a:r>
              <a:rPr sz="900" b="1">
                <a:solidFill>
                  <a:srgbClr val="5261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6017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2026-07-18T14:08:00.2700000Z</dcterms:created>
  <dcterms:modified xsi:type="dcterms:W3CDTF">2026-07-18T14:08:00.2700000Z</dcterms:modified>
</coreProperties>
</file>