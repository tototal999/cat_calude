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1A63957-3312-435C-8678-D4E56E7C626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475F61-DDA7-4D20-95D7-1FC6D48D2E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8CC79C-5C12-4D33-82F1-E2F2375708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9F0F13-F2D5-4B6C-9B39-D0F9E0B448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2C14B2-E87B-4100-91A1-08DFF0A05E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78149A-290D-42A9-AFF4-F81D5D8BD8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1A384F-447E-4392-BB73-5D5DEBCC0E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76D2FA-B34B-4CD3-9046-B1B5BB4131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44D0E2-DEC8-448F-B3D5-CEEC91DAD8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50B3ED-5E2D-4231-A6AD-FC69E9C787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C64D0F-ABA9-40B2-9460-6C6D49D45A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CEBE04-F58C-4F1C-8A94-2DB5A4530B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918E30-AC5C-47B6-8080-F8CAC298F0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905DDD-72EA-4096-BACD-326F2A5B29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775D9C-67BE-4AC9-B736-F3C042B2F5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D5C9B4-D3A1-4118-853C-E0C8169E88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422477-E487-476D-B55E-73C47635C0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05840" y="1874520"/>
            <a:ext cx="776880" cy="12780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05840" y="2194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b7b8ce"/>
                </a:solidFill>
                <a:latin typeface="Microsoft JhengHei"/>
                <a:ea typeface="Microsoft JhengHei"/>
              </a:rPr>
              <a:t>使用者 </a:t>
            </a:r>
            <a:r>
              <a:rPr b="0" lang="en-US" sz="1600" spc="-1" strike="noStrike">
                <a:solidFill>
                  <a:srgbClr val="b7b8ce"/>
                </a:solidFill>
                <a:latin typeface="Microsoft JhengHei"/>
                <a:ea typeface="Microsoft JhengHei"/>
              </a:rPr>
              <a:t>SOP </a:t>
            </a:r>
            <a:r>
              <a:rPr b="0" lang="zh-CN" sz="1600" spc="-1" strike="noStrike">
                <a:solidFill>
                  <a:srgbClr val="b7b8ce"/>
                </a:solidFill>
                <a:latin typeface="Microsoft JhengHei"/>
                <a:ea typeface="Microsoft JhengHei"/>
              </a:rPr>
              <a:t>・ 投影版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05840" y="2743200"/>
            <a:ext cx="10515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ClaudeCat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1" lang="zh-CN" sz="4600" spc="-1" strike="noStrike">
                <a:solidFill>
                  <a:srgbClr val="8e86f5"/>
                </a:solidFill>
                <a:latin typeface="Microsoft JhengHei"/>
                <a:ea typeface="Microsoft JhengHei"/>
              </a:rPr>
              <a:t>桌面上的公司 </a:t>
            </a:r>
            <a:r>
              <a:rPr b="1" lang="en-US" sz="4600" spc="-1" strike="noStrike">
                <a:solidFill>
                  <a:srgbClr val="8e86f5"/>
                </a:solidFill>
                <a:latin typeface="Microsoft JhengHei"/>
                <a:ea typeface="Microsoft JhengHei"/>
              </a:rPr>
              <a:t>AI </a:t>
            </a:r>
            <a:r>
              <a:rPr b="1" lang="zh-CN" sz="4600" spc="-1" strike="noStrike">
                <a:solidFill>
                  <a:srgbClr val="8e86f5"/>
                </a:solidFill>
                <a:latin typeface="Microsoft JhengHei"/>
                <a:ea typeface="Microsoft JhengHei"/>
              </a:rPr>
              <a:t>助手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005840" y="461772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00" spc="-1" strike="noStrike">
                <a:solidFill>
                  <a:srgbClr val="aaabcb"/>
                </a:solidFill>
                <a:latin typeface="Microsoft JhengHei"/>
                <a:ea typeface="Microsoft JhengHei"/>
              </a:rPr>
              <a:t>聊天 ・ 文件問答 ・ 會議包 ・ 安全結束，三分鐘上手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005840" y="52578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8e86f5"/>
                </a:solidFill>
                <a:latin typeface="Microsoft JhengHei"/>
                <a:ea typeface="Microsoft JhengHei"/>
              </a:rPr>
              <a:t>2026-07-21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ClaudeCat 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能做什麼（</a:t>
            </a: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／</a:t>
            </a: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）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68680" y="114300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50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多數同事無法直接上外網使用 </a:t>
            </a:r>
            <a:r>
              <a:rPr b="0" lang="en-US" sz="150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LLM</a:t>
            </a:r>
            <a:r>
              <a:rPr b="0" lang="zh-CN" sz="150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。</a:t>
            </a:r>
            <a:r>
              <a:rPr b="0" lang="en-US" sz="150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ClaudeCat </a:t>
            </a:r>
            <a:r>
              <a:rPr b="0" lang="zh-CN" sz="150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把公司已提供的內網 </a:t>
            </a:r>
            <a:r>
              <a:rPr b="0" lang="en-US" sz="150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AI </a:t>
            </a:r>
            <a:r>
              <a:rPr b="0" lang="zh-CN" sz="150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整合到桌面貓咪中，不必另開網頁、命令列或模型程式。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868680" y="1737360"/>
            <a:ext cx="5120280" cy="20570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868680" y="1737360"/>
            <a:ext cx="68400" cy="205704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1124640" y="18835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快速提問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1124640" y="2304360"/>
            <a:ext cx="466308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點一下貓咪，輸入問題按 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Enter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整理工作重點、解釋錯誤訊息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短答留在氣泡，長答自動展開卡片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6263640" y="1737360"/>
            <a:ext cx="5120280" cy="20570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6263640" y="1737360"/>
            <a:ext cx="68400" cy="205704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6519600" y="18835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LLM </a:t>
            </a: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交談介面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6519600" y="2304360"/>
            <a:ext cx="466308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右鍵 →「交談（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LLM 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介面）…」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多輪對話、對話紀錄、匯出 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Markdown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附件分析、簡報大綱匯出 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PPTX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868680" y="3977640"/>
            <a:ext cx="5120280" cy="20570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868680" y="3977640"/>
            <a:ext cx="68400" cy="205704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1124640" y="41238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分析文件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1124640" y="4544640"/>
            <a:ext cx="466308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右鍵 →「文件助手…」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PDF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Word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PowerPoint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Excel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摘要、流程 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SOP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、表格整理、比較文件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6263640" y="3977640"/>
            <a:ext cx="5120280" cy="20570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6263640" y="3977640"/>
            <a:ext cx="68400" cy="205704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6519600" y="41238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文件問答與來源引用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6519600" y="4544640"/>
            <a:ext cx="466308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回答只能使用找到的證據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附頁碼、段落、投影片或儲存格範圍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文件未提及時會明確說明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ClaudeCat 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能做什麼（</a:t>
            </a: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／</a:t>
            </a: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）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868680" y="1234440"/>
            <a:ext cx="5120280" cy="19656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868680" y="1234440"/>
            <a:ext cx="68400" cy="196560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1124640" y="13806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文件會議包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1124640" y="1801440"/>
            <a:ext cx="466308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一鍵：摘要 → 會議重點 → 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Markdown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可加英文翻譯；可取消、失敗可重試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6263640" y="1234440"/>
            <a:ext cx="5120280" cy="19656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6263640" y="1234440"/>
            <a:ext cx="68400" cy="196560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6519600" y="138060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JSON </a:t>
            </a: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工具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6519600" y="1801440"/>
            <a:ext cx="466308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Format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Minify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Validate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JSONPath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本機處理，完全不呼叫模型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1"/>
          <p:cNvSpPr/>
          <p:nvPr/>
        </p:nvSpPr>
        <p:spPr>
          <a:xfrm>
            <a:off x="868680" y="3383280"/>
            <a:ext cx="5120280" cy="19656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868680" y="3383280"/>
            <a:ext cx="68400" cy="196560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1124640" y="35294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翻譯工具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1124640" y="3950280"/>
            <a:ext cx="466308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英／繁中／簡中，可自動偵測來源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保護程式碼、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SQL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、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API path 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與檔名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5"/>
          <p:cNvSpPr/>
          <p:nvPr/>
        </p:nvSpPr>
        <p:spPr>
          <a:xfrm>
            <a:off x="6263640" y="3383280"/>
            <a:ext cx="5120280" cy="196560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6263640" y="3383280"/>
            <a:ext cx="68400" cy="196560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6519600" y="35294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桌寵 ・ </a:t>
            </a:r>
            <a:r>
              <a:rPr b="1" lang="en-US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Skin </a:t>
            </a: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・ 排程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519600" y="3950280"/>
            <a:ext cx="466308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拖曳移動、系統匣顯示／隱藏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三種外觀；每日／每週／每小時提醒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9"/>
          <p:cNvSpPr/>
          <p:nvPr/>
        </p:nvSpPr>
        <p:spPr>
          <a:xfrm>
            <a:off x="868680" y="557784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1051560" y="557784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使用邊界：聊天與文件回答使用公司設定的內網 </a:t>
            </a:r>
            <a:r>
              <a:rPr b="0" lang="en-US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LLM</a:t>
            </a: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。使用者不需外網帳號。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目前使用的模型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使用公司設定的內網模型，使用者不需選擇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868680" y="1847160"/>
            <a:ext cx="10606680" cy="223992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868680" y="1847160"/>
            <a:ext cx="68400" cy="22399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124640" y="199332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使用者不必做的事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1124640" y="2414160"/>
            <a:ext cx="1014948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不需要外網帳號、</a:t>
            </a:r>
            <a:r>
              <a:rPr b="0" lang="en-US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API Key</a:t>
            </a: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，也不需要自行挑選模型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聊天、文件問答與翻譯都使用公司統一的預設模型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模型以直接、快速產出回答為主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868680" y="4270320"/>
            <a:ext cx="10606680" cy="187416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868680" y="4270320"/>
            <a:ext cx="68400" cy="18741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1124640" y="441648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哪些功能不呼叫模型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1124640" y="4837320"/>
            <a:ext cx="1014948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en-US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JSON </a:t>
            </a: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的格式化、驗證、搜尋與 </a:t>
            </a:r>
            <a:r>
              <a:rPr b="0" lang="en-US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JSONPath </a:t>
            </a: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為本機確定性工具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聊天與文件功能只使用公司內網模型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868680" y="617220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1051560" y="617220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本簡報不列出內網網址、模型名稱、</a:t>
            </a:r>
            <a:r>
              <a:rPr b="0" lang="en-US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API Key </a:t>
            </a: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或其他連線憑證。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Agenda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868680" y="169164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868680" y="16916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1490400" y="163692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快速提問與長回答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868680" y="253296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868680" y="25329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1490400" y="247788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切換到 </a:t>
            </a:r>
            <a:r>
              <a:rPr b="0" lang="en-US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LLM </a:t>
            </a:r>
            <a:r>
              <a:rPr b="0" lang="zh-CN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交談介面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868680" y="337428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868680" y="33742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1490400" y="331920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分析文件、文件問答與來源引用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868680" y="421524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868680" y="42152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1490400" y="416052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文件會議包：一鍵產出可交付的 </a:t>
            </a:r>
            <a:r>
              <a:rPr b="0" lang="en-US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Markdown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868680" y="505656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868680" y="50565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1490400" y="500184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桌寵管理、</a:t>
            </a:r>
            <a:r>
              <a:rPr b="0" lang="en-US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Skin</a:t>
            </a:r>
            <a:r>
              <a:rPr b="0" lang="zh-CN" sz="19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、排程與安全結束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快速提問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一般問題，不必另開聊天視窗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868680" y="207576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868680" y="20757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1490400" y="202068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點一下桌面貓咪。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868680" y="294444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868680" y="29444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1490400" y="288936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在旁邊輸入問題後按 </a:t>
            </a:r>
            <a:r>
              <a:rPr b="0" lang="en-US" sz="17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Enter</a:t>
            </a:r>
            <a:r>
              <a:rPr b="0" lang="zh-CN" sz="17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868680" y="381312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868680" y="3813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1490400" y="375804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短答案直接顯示成氣泡。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868680" y="512064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1051560" y="512064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範例：今天的工作重點怎麼整理？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長回答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需要細節時，展開成貓咪旁的卡片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868680" y="1984320"/>
            <a:ext cx="10606680" cy="237708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868680" y="1984320"/>
            <a:ext cx="68400" cy="237708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1124640" y="213048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卡片可以做什麼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1124640" y="2551320"/>
            <a:ext cx="1014948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可複製答案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可繼續追問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完成後可收合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868680" y="539496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1051560" y="539496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範例：</a:t>
            </a:r>
            <a:r>
              <a:rPr b="0" lang="en-US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SQL Review</a:t>
            </a: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、文件重點整理。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切換到 </a:t>
            </a: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LLM 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交談介面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需要多輪對話或工具箱時，開啟完整介面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868680" y="184716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868680" y="18471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1490400" y="179208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右鍵點選桌面貓咪。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868680" y="250560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68680" y="2505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1490400" y="245052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選「交談（</a:t>
            </a:r>
            <a:r>
              <a:rPr b="0" lang="en-US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LLM </a:t>
            </a: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介面）…」。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868680" y="316368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68680" y="31636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1490400" y="310896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多輪對話，或切換 </a:t>
            </a:r>
            <a:r>
              <a:rPr b="0" lang="en-US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JSON</a:t>
            </a: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／翻譯工具。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868680" y="3977640"/>
            <a:ext cx="10606680" cy="18284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868680" y="3977640"/>
            <a:ext cx="68400" cy="182844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1124640" y="412380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此介面也可使用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1124640" y="4544640"/>
            <a:ext cx="1014948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側欄對話紀錄：回看或繼續之前的對話　　・　附件：加入文字或 </a:t>
            </a:r>
            <a:r>
              <a:rPr b="0" lang="en-US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Excel </a:t>
            </a:r>
            <a:r>
              <a:rPr b="0" lang="zh-CN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檔案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Markdown</a:t>
            </a:r>
            <a:r>
              <a:rPr b="0" lang="zh-CN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／程式碼複製　　・　簡報匯出 </a:t>
            </a:r>
            <a:r>
              <a:rPr b="0" lang="en-US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PPTX</a:t>
            </a:r>
            <a:r>
              <a:rPr b="0" lang="zh-CN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　　・　輸入 </a:t>
            </a:r>
            <a:r>
              <a:rPr b="0" lang="en-US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/ </a:t>
            </a:r>
            <a:r>
              <a:rPr b="0" lang="zh-CN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叫出快速提示詞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868680" y="603504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1051560" y="603504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快速問題仍建議直接點貓咪，較不打斷工作流程。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分析文件與文件問答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把文件交給貓咪，再依來源提問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868680" y="189288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868680" y="18928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1490400" y="183780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右鍵點貓咪，選「文件助手…」。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868680" y="267012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868680" y="2670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1490400" y="261504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選擇 </a:t>
            </a:r>
            <a:r>
              <a:rPr b="0" lang="en-US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PDF</a:t>
            </a: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Word</a:t>
            </a: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PowerPoint</a:t>
            </a: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Excel</a:t>
            </a: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，等待本機索引完成。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868680" y="344736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868680" y="3447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1490400" y="339228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可執行摘要、流程 </a:t>
            </a:r>
            <a:r>
              <a:rPr b="0" lang="en-US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SOP</a:t>
            </a: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、表格整理或比較文件。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3"/>
          <p:cNvSpPr/>
          <p:nvPr/>
        </p:nvSpPr>
        <p:spPr>
          <a:xfrm>
            <a:off x="868680" y="422460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868680" y="4224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1490400" y="416952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提問並查看答案下方的來源引用。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6"/>
          <p:cNvSpPr/>
          <p:nvPr/>
        </p:nvSpPr>
        <p:spPr>
          <a:xfrm>
            <a:off x="868680" y="534924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1051560" y="534924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建議問題：誰需要批准？這份文件在說什麼？有哪些注意事項？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8"/>
          <p:cNvSpPr/>
          <p:nvPr/>
        </p:nvSpPr>
        <p:spPr>
          <a:xfrm>
            <a:off x="868680" y="598932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1051560" y="598932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d92d20"/>
                </a:solidFill>
                <a:latin typeface="Microsoft JhengHei"/>
                <a:ea typeface="Microsoft JhengHei"/>
              </a:rPr>
              <a:t>提醒：文件未提及時，系統會明確表示無法依文件確認。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文件會議包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一鍵把文件變成可交付的會議 </a:t>
            </a:r>
            <a:r>
              <a:rPr b="1" lang="en-US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Markdown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868680" y="1874520"/>
            <a:ext cx="1992960" cy="9140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923400" y="197496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4fe8"/>
                </a:solidFill>
                <a:latin typeface="Consolas"/>
                <a:ea typeface="Consolas"/>
              </a:rPr>
              <a:t>retrieve_evidence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923400" y="234072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找出證據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2862000" y="1874520"/>
            <a:ext cx="21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8e86f5"/>
                </a:solidFill>
                <a:latin typeface="Microsoft JhengHei"/>
                <a:ea typeface="Microsoft JhengHei"/>
              </a:rPr>
              <a:t>›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3081600" y="1874520"/>
            <a:ext cx="1992960" cy="9140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3136320" y="197496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4fe8"/>
                </a:solidFill>
                <a:latin typeface="Consolas"/>
                <a:ea typeface="Consolas"/>
              </a:rPr>
              <a:t>summarize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3136320" y="234072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摘要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5074920" y="1874520"/>
            <a:ext cx="21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8e86f5"/>
                </a:solidFill>
                <a:latin typeface="Microsoft JhengHei"/>
                <a:ea typeface="Microsoft JhengHei"/>
              </a:rPr>
              <a:t>›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2"/>
          <p:cNvSpPr/>
          <p:nvPr/>
        </p:nvSpPr>
        <p:spPr>
          <a:xfrm>
            <a:off x="5294520" y="1874520"/>
            <a:ext cx="1992960" cy="9140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5349240" y="197496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4fe8"/>
                </a:solidFill>
                <a:latin typeface="Consolas"/>
                <a:ea typeface="Consolas"/>
              </a:rPr>
              <a:t>meeting_notes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5349240" y="234072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會議重點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7287840" y="1874520"/>
            <a:ext cx="21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8e86f5"/>
                </a:solidFill>
                <a:latin typeface="Microsoft JhengHei"/>
                <a:ea typeface="Microsoft JhengHei"/>
              </a:rPr>
              <a:t>›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6"/>
          <p:cNvSpPr/>
          <p:nvPr/>
        </p:nvSpPr>
        <p:spPr>
          <a:xfrm>
            <a:off x="7507080" y="1874520"/>
            <a:ext cx="1992960" cy="914040"/>
          </a:xfrm>
          <a:prstGeom prst="rect">
            <a:avLst/>
          </a:prstGeom>
          <a:solidFill>
            <a:srgbClr val="ffffff"/>
          </a:solidFill>
          <a:ln w="15875">
            <a:solidFill>
              <a:srgbClr val="8e86f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7"/>
          <p:cNvSpPr/>
          <p:nvPr/>
        </p:nvSpPr>
        <p:spPr>
          <a:xfrm>
            <a:off x="7562160" y="197496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4fe8"/>
                </a:solidFill>
                <a:latin typeface="Consolas"/>
                <a:ea typeface="Consolas"/>
              </a:rPr>
              <a:t>translate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7562160" y="234072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可選翻譯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9500760" y="1874520"/>
            <a:ext cx="21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8e86f5"/>
                </a:solidFill>
                <a:latin typeface="Microsoft JhengHei"/>
                <a:ea typeface="Microsoft JhengHei"/>
              </a:rPr>
              <a:t>›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0"/>
          <p:cNvSpPr/>
          <p:nvPr/>
        </p:nvSpPr>
        <p:spPr>
          <a:xfrm>
            <a:off x="9720000" y="1874520"/>
            <a:ext cx="1992960" cy="9140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9775080" y="197496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b4fe8"/>
                </a:solidFill>
                <a:latin typeface="Consolas"/>
                <a:ea typeface="Consolas"/>
              </a:rPr>
              <a:t>export_markdown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9775080" y="2340720"/>
            <a:ext cx="188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輸出成果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868680" y="292608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0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狀態圖示：✓ 完成　● 執行中　○ 待執行　✕ 失敗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868680" y="3429000"/>
            <a:ext cx="5120280" cy="237708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868680" y="3429000"/>
            <a:ext cx="68400" cy="237708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1124640" y="35751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操作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7"/>
          <p:cNvSpPr/>
          <p:nvPr/>
        </p:nvSpPr>
        <p:spPr>
          <a:xfrm>
            <a:off x="1124640" y="3996000"/>
            <a:ext cx="466308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先完成前一頁的文件分析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需要英文版時勾選「加入英文翻譯」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按「建立文件會議包」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執行中可取消；失敗可重新執行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8"/>
          <p:cNvSpPr/>
          <p:nvPr/>
        </p:nvSpPr>
        <p:spPr>
          <a:xfrm>
            <a:off x="6263640" y="3429000"/>
            <a:ext cx="5120280" cy="237708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6263640" y="3429000"/>
            <a:ext cx="68400" cy="237708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0"/>
          <p:cNvSpPr/>
          <p:nvPr/>
        </p:nvSpPr>
        <p:spPr>
          <a:xfrm>
            <a:off x="6519600" y="35751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安全設計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1"/>
          <p:cNvSpPr/>
          <p:nvPr/>
        </p:nvSpPr>
        <p:spPr>
          <a:xfrm>
            <a:off x="6519600" y="3996000"/>
            <a:ext cx="466308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同一次失敗最多重試 </a:t>
            </a:r>
            <a:r>
              <a:rPr b="0" lang="en-US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3 </a:t>
            </a: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中途失敗保留「部分成果」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標示抽樣涵蓋範圍與來源定位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程式被強制關閉可直接重新執行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清理 </a:t>
            </a: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Workflow 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歷史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成果會累積在本機，可自行清理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868680" y="203004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868680" y="2030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1490400" y="197496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在文件助手上方按「清理 </a:t>
            </a:r>
            <a:r>
              <a:rPr b="0" lang="en-US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Workflow </a:t>
            </a: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歷史」。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868680" y="285300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868680" y="28530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1490400" y="279792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確認提示後，清除已結束的 </a:t>
            </a:r>
            <a:r>
              <a:rPr b="0" lang="en-US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Run </a:t>
            </a: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與 </a:t>
            </a:r>
            <a:r>
              <a:rPr b="0" lang="en-US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Markdown </a:t>
            </a: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成果。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868680" y="367596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868680" y="36759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1490400" y="362088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執行中的工作會保留，不會被清掉。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3"/>
          <p:cNvSpPr/>
          <p:nvPr/>
        </p:nvSpPr>
        <p:spPr>
          <a:xfrm>
            <a:off x="868680" y="534924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1051560" y="534924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系統另會自動保留最近的執行紀錄，不需每次手動清理。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工具箱：</a:t>
            </a: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JSON 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與翻譯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868680" y="1325880"/>
            <a:ext cx="5120280" cy="22856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4"/>
          <p:cNvSpPr/>
          <p:nvPr/>
        </p:nvSpPr>
        <p:spPr>
          <a:xfrm>
            <a:off x="868680" y="1325880"/>
            <a:ext cx="68400" cy="228564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1124640" y="14720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JSON </a:t>
            </a: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工具（不需 </a:t>
            </a:r>
            <a:r>
              <a:rPr b="1" lang="en-US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LLM</a:t>
            </a: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1124640" y="1892880"/>
            <a:ext cx="4663080" cy="15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Format</a:t>
            </a:r>
            <a:r>
              <a:rPr b="0" lang="zh-CN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Minify</a:t>
            </a:r>
            <a:r>
              <a:rPr b="0" lang="zh-CN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／</a:t>
            </a:r>
            <a:r>
              <a:rPr b="0" lang="en-US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Validate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搜尋與 </a:t>
            </a:r>
            <a:r>
              <a:rPr b="0" lang="en-US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JSONPath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格式錯誤會顯示行與欄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7"/>
          <p:cNvSpPr/>
          <p:nvPr/>
        </p:nvSpPr>
        <p:spPr>
          <a:xfrm>
            <a:off x="6263640" y="1325880"/>
            <a:ext cx="5120280" cy="228564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8"/>
          <p:cNvSpPr/>
          <p:nvPr/>
        </p:nvSpPr>
        <p:spPr>
          <a:xfrm>
            <a:off x="6263640" y="1325880"/>
            <a:ext cx="68400" cy="228564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6519600" y="14720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翻譯工具（語意處理）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0"/>
          <p:cNvSpPr/>
          <p:nvPr/>
        </p:nvSpPr>
        <p:spPr>
          <a:xfrm>
            <a:off x="6519600" y="1892880"/>
            <a:ext cx="4663080" cy="15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來源可自動偵測或指定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英／繁中／簡中，可用 ⇄ 互換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一般／技術／商務／中英對照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1"/>
          <p:cNvSpPr/>
          <p:nvPr/>
        </p:nvSpPr>
        <p:spPr>
          <a:xfrm>
            <a:off x="868680" y="3840480"/>
            <a:ext cx="10515240" cy="169128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2"/>
          <p:cNvSpPr/>
          <p:nvPr/>
        </p:nvSpPr>
        <p:spPr>
          <a:xfrm>
            <a:off x="868680" y="3840480"/>
            <a:ext cx="68400" cy="169128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1124640" y="39866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翻譯會原樣保留的內容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1124640" y="4407480"/>
            <a:ext cx="1005804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程式碼、</a:t>
            </a:r>
            <a:r>
              <a:rPr b="0" lang="en-US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SQL</a:t>
            </a: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、</a:t>
            </a:r>
            <a:r>
              <a:rPr b="0" lang="en-US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JSON Key</a:t>
            </a: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、</a:t>
            </a:r>
            <a:r>
              <a:rPr b="0" lang="en-US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API path </a:t>
            </a:r>
            <a:r>
              <a:rPr b="0" lang="zh-CN" sz="15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與檔名不會被翻譯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5"/>
          <p:cNvSpPr/>
          <p:nvPr/>
        </p:nvSpPr>
        <p:spPr>
          <a:xfrm>
            <a:off x="868680" y="576072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6"/>
          <p:cNvSpPr/>
          <p:nvPr/>
        </p:nvSpPr>
        <p:spPr>
          <a:xfrm>
            <a:off x="1051560" y="576072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JSON </a:t>
            </a: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工具在 </a:t>
            </a:r>
            <a:r>
              <a:rPr b="0" lang="en-US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LLM </a:t>
            </a: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離線時仍可完全使用。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切換 </a:t>
            </a:r>
            <a:r>
              <a:rPr b="1" lang="en-US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Skin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可依個人偏好更換貓咪外觀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4"/>
          <p:cNvSpPr/>
          <p:nvPr/>
        </p:nvSpPr>
        <p:spPr>
          <a:xfrm>
            <a:off x="868680" y="203004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868680" y="2030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1490400" y="197496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右鍵點選桌面貓咪。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7"/>
          <p:cNvSpPr/>
          <p:nvPr/>
        </p:nvSpPr>
        <p:spPr>
          <a:xfrm>
            <a:off x="868680" y="285300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868680" y="28530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1490400" y="279792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開啟「切換 </a:t>
            </a:r>
            <a:r>
              <a:rPr b="0" lang="en-US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Skin</a:t>
            </a: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」子選單。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868680" y="367596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868680" y="36759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1490400" y="362088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選擇 </a:t>
            </a:r>
            <a:r>
              <a:rPr b="0" lang="en-US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bluecat</a:t>
            </a: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、</a:t>
            </a:r>
            <a:r>
              <a:rPr b="0" lang="en-US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cowcat </a:t>
            </a: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或 </a:t>
            </a:r>
            <a:r>
              <a:rPr b="0" lang="en-US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ragdollcat</a:t>
            </a:r>
            <a:r>
              <a:rPr b="0" lang="zh-CN" sz="16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。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868680" y="5349240"/>
            <a:ext cx="10634040" cy="502560"/>
          </a:xfrm>
          <a:prstGeom prst="rect">
            <a:avLst/>
          </a:prstGeom>
          <a:solidFill>
            <a:srgbClr val="eef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1051560" y="5349240"/>
            <a:ext cx="10268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6b6e85"/>
                </a:solidFill>
                <a:latin typeface="Microsoft JhengHei"/>
                <a:ea typeface="Microsoft JhengHei"/>
              </a:rPr>
              <a:t>切換後立即生效，重新啟動後也會保留最後一次選擇。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桌寵管理與排程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維持桌面工作習慣，不必一直開著聊天視窗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868680" y="1938600"/>
            <a:ext cx="10606680" cy="301716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5"/>
          <p:cNvSpPr/>
          <p:nvPr/>
        </p:nvSpPr>
        <p:spPr>
          <a:xfrm>
            <a:off x="868680" y="1938600"/>
            <a:ext cx="68400" cy="30171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1124640" y="208476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可以做的事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7"/>
          <p:cNvSpPr/>
          <p:nvPr/>
        </p:nvSpPr>
        <p:spPr>
          <a:xfrm>
            <a:off x="1124640" y="2505600"/>
            <a:ext cx="10149480" cy="23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左鍵拖曳貓咪或用量徽章，可移到適合的位置；位置會保留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系統匣可顯示／隱藏桌寵、快速提問、開啟文件助手與結束程式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右鍵選「排程…」，可新增每日、每週或每小時提醒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12188520" cy="95976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1"/>
          <p:cNvSpPr/>
          <p:nvPr/>
        </p:nvSpPr>
        <p:spPr>
          <a:xfrm>
            <a:off x="0" y="960120"/>
            <a:ext cx="145800" cy="589752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548640" y="10980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安全結束與常見提示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868680" y="1188720"/>
            <a:ext cx="1063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從系統匣安全關閉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868680" y="184716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868680" y="18471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1490400" y="179208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在工作列右下角找到 </a:t>
            </a:r>
            <a:r>
              <a:rPr b="0" lang="en-US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ClaudeCat </a:t>
            </a: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圖示。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7"/>
          <p:cNvSpPr/>
          <p:nvPr/>
        </p:nvSpPr>
        <p:spPr>
          <a:xfrm>
            <a:off x="868680" y="256032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868680" y="2560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1490400" y="250560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右鍵選「結束」。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0"/>
          <p:cNvSpPr/>
          <p:nvPr/>
        </p:nvSpPr>
        <p:spPr>
          <a:xfrm>
            <a:off x="868680" y="3273480"/>
            <a:ext cx="420120" cy="420120"/>
          </a:xfrm>
          <a:prstGeom prst="ellipse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868680" y="3273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1490400" y="3218760"/>
            <a:ext cx="992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確認貓咪已從桌面消失。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868680" y="4114800"/>
            <a:ext cx="10606680" cy="1691280"/>
          </a:xfrm>
          <a:prstGeom prst="rect">
            <a:avLst/>
          </a:prstGeom>
          <a:solidFill>
            <a:srgbClr val="f0f2fa"/>
          </a:solidFill>
          <a:ln w="9525">
            <a:solidFill>
              <a:srgbClr val="dde1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4"/>
          <p:cNvSpPr/>
          <p:nvPr/>
        </p:nvSpPr>
        <p:spPr>
          <a:xfrm>
            <a:off x="868680" y="4114800"/>
            <a:ext cx="68400" cy="169128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1124640" y="426096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pc="-1" strike="noStrike">
                <a:solidFill>
                  <a:srgbClr val="5b4fe8"/>
                </a:solidFill>
                <a:latin typeface="Microsoft JhengHei"/>
                <a:ea typeface="Microsoft JhengHei"/>
              </a:rPr>
              <a:t>常見提示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1124640" y="4681800"/>
            <a:ext cx="1014948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缺少模型／服務請聯絡 </a:t>
            </a:r>
            <a:r>
              <a:rPr b="0" lang="en-US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IT</a:t>
            </a:r>
            <a:r>
              <a:rPr b="0" lang="zh-CN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　　・　掃描型 </a:t>
            </a:r>
            <a:r>
              <a:rPr b="0" lang="en-US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PDF </a:t>
            </a:r>
            <a:r>
              <a:rPr b="0" lang="zh-CN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需要 </a:t>
            </a:r>
            <a:r>
              <a:rPr b="0" lang="en-US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OCR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2000"/>
              </a:lnSpc>
              <a:buClr>
                <a:srgbClr val="1e1f35"/>
              </a:buClr>
              <a:buFont typeface="Symbol" charset="2"/>
              <a:buChar char=""/>
            </a:pPr>
            <a:r>
              <a:rPr b="0" lang="zh-CN" sz="1450" spc="-1" strike="noStrike">
                <a:solidFill>
                  <a:srgbClr val="1e1f35"/>
                </a:solidFill>
                <a:latin typeface="Microsoft JhengHei"/>
                <a:ea typeface="Microsoft JhengHei"/>
              </a:rPr>
              <a:t>文件無資料時，請改問文件確實出現的內容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5b4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548640" y="201168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a9cb5"/>
                </a:solidFill>
                <a:latin typeface="Microsoft JhengHei"/>
                <a:ea typeface="Microsoft JhengHei"/>
              </a:rPr>
              <a:t>ClaudeCat </a:t>
            </a:r>
            <a:r>
              <a:rPr b="0" lang="zh-CN" sz="1600" spc="-1" strike="noStrike">
                <a:solidFill>
                  <a:srgbClr val="9a9cb5"/>
                </a:solidFill>
                <a:latin typeface="Microsoft JhengHei"/>
                <a:ea typeface="Microsoft JhengHei"/>
              </a:rPr>
              <a:t>使用者 </a:t>
            </a:r>
            <a:r>
              <a:rPr b="0" lang="en-US" sz="1600" spc="-1" strike="noStrike">
                <a:solidFill>
                  <a:srgbClr val="9a9cb5"/>
                </a:solidFill>
                <a:latin typeface="Microsoft JhengHei"/>
                <a:ea typeface="Microsoft JhengHei"/>
              </a:rPr>
              <a:t>SOP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548640" y="2560320"/>
            <a:ext cx="11091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直接點貓咪提問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548640" y="3977640"/>
            <a:ext cx="1109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00" spc="-1" strike="noStrike">
                <a:solidFill>
                  <a:srgbClr val="8e86f5"/>
                </a:solidFill>
                <a:latin typeface="Microsoft JhengHei"/>
                <a:ea typeface="Microsoft JhengHei"/>
              </a:rPr>
              <a:t>文件助手會附來源　・　關閉請用系統匣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2026-07-21T11:43:06Z</dcterms:created>
  <dc:creator>PptxGenJS</dc:creator>
  <dc:description/>
  <dc:language>en-US</dc:language>
  <cp:lastModifiedBy>PptxGenJS</cp:lastModifiedBy>
  <dcterms:modified xsi:type="dcterms:W3CDTF">2026-07-21T11:43:06Z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16</vt:r8>
  </property>
  <property fmtid="{D5CDD505-2E9C-101B-9397-08002B2CF9AE}" pid="3" name="PresentationFormat">
    <vt:lpwstr>On-screen Show (16:9)</vt:lpwstr>
  </property>
  <property fmtid="{D5CDD505-2E9C-101B-9397-08002B2CF9AE}" pid="4" name="Slides">
    <vt:r8>16</vt:r8>
  </property>
</Properties>
</file>