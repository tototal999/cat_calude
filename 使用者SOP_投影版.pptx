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notesSlides/_rels/notesSlide9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5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1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12188825" cy="6858000"/>
  <p:notesSz cx="6858000" cy="12188825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25820069-2EF0-40FE-91EC-BA52A4582DBD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99401C1-9485-4BA7-B50B-3458EC23FBA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87E6952-9FA3-4AA8-B99C-C1BBE110B48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5981AE3-A2E5-42B9-A793-E48C2EB3C96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CF1B514-C086-4B5F-B29E-48878A23DAD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AE810A9-7A6D-40D1-86F1-E4F5258D538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D767C35-B533-4569-AFC6-9452756C6C7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F6C7FFB-E0E1-421C-85BA-12B95160D37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232FC22-CCB4-4D28-8864-12E2795E6FB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419E0F4-7237-4401-92D4-A729B0EBCCE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FF7324C-9C30-42E0-95FB-6C01B19A58A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471DD0F-9210-4CA3-9A90-E9230EBFFFF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6918877-026E-4323-B31D-6E2D44FD232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41AB6D1-B8D6-4C59-8601-740E944F54F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32D7E44-C3A8-480B-BEB4-3BD4EAF9D17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1F31790-AF03-4DA0-A9B8-1E211142046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e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145800" cy="685764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1005840" y="1874520"/>
            <a:ext cx="776880" cy="12780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1005840" y="219456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600" spc="-1" strike="noStrike">
                <a:solidFill>
                  <a:srgbClr val="b7b8ce"/>
                </a:solidFill>
                <a:latin typeface="Microsoft JhengHei"/>
                <a:ea typeface="Microsoft JhengHei"/>
              </a:rPr>
              <a:t>使用者 </a:t>
            </a:r>
            <a:r>
              <a:rPr b="0" lang="en-US" sz="1600" spc="-1" strike="noStrike">
                <a:solidFill>
                  <a:srgbClr val="b7b8ce"/>
                </a:solidFill>
                <a:latin typeface="Microsoft JhengHei"/>
                <a:ea typeface="Microsoft JhengHei"/>
              </a:rPr>
              <a:t>SOP </a:t>
            </a:r>
            <a:r>
              <a:rPr b="0" lang="zh-CN" sz="1600" spc="-1" strike="noStrike">
                <a:solidFill>
                  <a:srgbClr val="b7b8ce"/>
                </a:solidFill>
                <a:latin typeface="Microsoft JhengHei"/>
                <a:ea typeface="Microsoft JhengHei"/>
              </a:rPr>
              <a:t>・ 投影版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1005840" y="2743200"/>
            <a:ext cx="1051524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6000"/>
              </a:lnSpc>
              <a:tabLst>
                <a:tab algn="l" pos="0"/>
              </a:tabLst>
            </a:pPr>
            <a:r>
              <a:rPr b="1" lang="en-US" sz="46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ClaudeCat</a:t>
            </a:r>
            <a:endParaRPr b="0" lang="en-US" sz="46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6000"/>
              </a:lnSpc>
              <a:tabLst>
                <a:tab algn="l" pos="0"/>
              </a:tabLst>
            </a:pPr>
            <a:r>
              <a:rPr b="1" lang="zh-CN" sz="4600" spc="-1" strike="noStrike">
                <a:solidFill>
                  <a:srgbClr val="8e86f5"/>
                </a:solidFill>
                <a:latin typeface="Microsoft JhengHei"/>
                <a:ea typeface="Microsoft JhengHei"/>
              </a:rPr>
              <a:t>桌面上的公司 </a:t>
            </a:r>
            <a:r>
              <a:rPr b="1" lang="en-US" sz="4600" spc="-1" strike="noStrike">
                <a:solidFill>
                  <a:srgbClr val="8e86f5"/>
                </a:solidFill>
                <a:latin typeface="Microsoft JhengHei"/>
                <a:ea typeface="Microsoft JhengHei"/>
              </a:rPr>
              <a:t>AI </a:t>
            </a:r>
            <a:r>
              <a:rPr b="1" lang="zh-CN" sz="4600" spc="-1" strike="noStrike">
                <a:solidFill>
                  <a:srgbClr val="8e86f5"/>
                </a:solidFill>
                <a:latin typeface="Microsoft JhengHei"/>
                <a:ea typeface="Microsoft JhengHei"/>
              </a:rPr>
              <a:t>助手</a:t>
            </a:r>
            <a:endParaRPr b="0" lang="en-US" sz="4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1005840" y="461772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700" spc="-1" strike="noStrike">
                <a:solidFill>
                  <a:srgbClr val="aaabcb"/>
                </a:solidFill>
                <a:latin typeface="Microsoft JhengHei"/>
                <a:ea typeface="Microsoft JhengHei"/>
              </a:rPr>
              <a:t>聊天 ・ 文件問答 ・ 翻譯 ・ 安全結束，三分鐘上手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1005840" y="5257800"/>
            <a:ext cx="10515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8e86f5"/>
                </a:solidFill>
                <a:latin typeface="Microsoft JhengHei"/>
                <a:ea typeface="Microsoft JhengHei"/>
              </a:rPr>
              <a:t>2026-07-21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0"/>
          <p:cNvSpPr/>
          <p:nvPr/>
        </p:nvSpPr>
        <p:spPr>
          <a:xfrm>
            <a:off x="0" y="0"/>
            <a:ext cx="12188520" cy="95976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Shape 1"/>
          <p:cNvSpPr/>
          <p:nvPr/>
        </p:nvSpPr>
        <p:spPr>
          <a:xfrm>
            <a:off x="0" y="960120"/>
            <a:ext cx="145800" cy="589752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Text 2"/>
          <p:cNvSpPr/>
          <p:nvPr/>
        </p:nvSpPr>
        <p:spPr>
          <a:xfrm>
            <a:off x="548640" y="1098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ClaudeCat </a:t>
            </a:r>
            <a:r>
              <a:rPr b="1" lang="zh-CN" sz="28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能做什麼（</a:t>
            </a:r>
            <a:r>
              <a:rPr b="1" lang="en-US" sz="28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1</a:t>
            </a:r>
            <a:r>
              <a:rPr b="1" lang="zh-CN" sz="28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／</a:t>
            </a:r>
            <a:r>
              <a:rPr b="1" lang="en-US" sz="28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2</a:t>
            </a:r>
            <a:r>
              <a:rPr b="1" lang="zh-CN" sz="28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）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Text 3"/>
          <p:cNvSpPr/>
          <p:nvPr/>
        </p:nvSpPr>
        <p:spPr>
          <a:xfrm>
            <a:off x="868680" y="1143000"/>
            <a:ext cx="10634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500" spc="-1" strike="noStrike">
                <a:solidFill>
                  <a:srgbClr val="6b6e85"/>
                </a:solidFill>
                <a:latin typeface="Microsoft JhengHei"/>
                <a:ea typeface="Microsoft JhengHei"/>
              </a:rPr>
              <a:t>多數同事無法直接上外網使用 </a:t>
            </a:r>
            <a:r>
              <a:rPr b="0" lang="en-US" sz="1500" spc="-1" strike="noStrike">
                <a:solidFill>
                  <a:srgbClr val="6b6e85"/>
                </a:solidFill>
                <a:latin typeface="Microsoft JhengHei"/>
                <a:ea typeface="Microsoft JhengHei"/>
              </a:rPr>
              <a:t>LLM</a:t>
            </a:r>
            <a:r>
              <a:rPr b="0" lang="zh-CN" sz="1500" spc="-1" strike="noStrike">
                <a:solidFill>
                  <a:srgbClr val="6b6e85"/>
                </a:solidFill>
                <a:latin typeface="Microsoft JhengHei"/>
                <a:ea typeface="Microsoft JhengHei"/>
              </a:rPr>
              <a:t>。</a:t>
            </a:r>
            <a:r>
              <a:rPr b="0" lang="en-US" sz="1500" spc="-1" strike="noStrike">
                <a:solidFill>
                  <a:srgbClr val="6b6e85"/>
                </a:solidFill>
                <a:latin typeface="Microsoft JhengHei"/>
                <a:ea typeface="Microsoft JhengHei"/>
              </a:rPr>
              <a:t>ClaudeCat </a:t>
            </a:r>
            <a:r>
              <a:rPr b="0" lang="zh-CN" sz="1500" spc="-1" strike="noStrike">
                <a:solidFill>
                  <a:srgbClr val="6b6e85"/>
                </a:solidFill>
                <a:latin typeface="Microsoft JhengHei"/>
                <a:ea typeface="Microsoft JhengHei"/>
              </a:rPr>
              <a:t>把公司已提供的內網 </a:t>
            </a:r>
            <a:r>
              <a:rPr b="0" lang="en-US" sz="1500" spc="-1" strike="noStrike">
                <a:solidFill>
                  <a:srgbClr val="6b6e85"/>
                </a:solidFill>
                <a:latin typeface="Microsoft JhengHei"/>
                <a:ea typeface="Microsoft JhengHei"/>
              </a:rPr>
              <a:t>AI </a:t>
            </a:r>
            <a:r>
              <a:rPr b="0" lang="zh-CN" sz="1500" spc="-1" strike="noStrike">
                <a:solidFill>
                  <a:srgbClr val="6b6e85"/>
                </a:solidFill>
                <a:latin typeface="Microsoft JhengHei"/>
                <a:ea typeface="Microsoft JhengHei"/>
              </a:rPr>
              <a:t>整合到桌面貓咪中，不必另開網頁、命令列或模型程式。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Shape 4"/>
          <p:cNvSpPr/>
          <p:nvPr/>
        </p:nvSpPr>
        <p:spPr>
          <a:xfrm>
            <a:off x="868680" y="1737360"/>
            <a:ext cx="5120280" cy="2057040"/>
          </a:xfrm>
          <a:prstGeom prst="rect">
            <a:avLst/>
          </a:prstGeom>
          <a:solidFill>
            <a:srgbClr val="f0f2fa"/>
          </a:solidFill>
          <a:ln w="9525">
            <a:solidFill>
              <a:srgbClr val="dde1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Shape 5"/>
          <p:cNvSpPr/>
          <p:nvPr/>
        </p:nvSpPr>
        <p:spPr>
          <a:xfrm>
            <a:off x="868680" y="1737360"/>
            <a:ext cx="68400" cy="205704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Text 6"/>
          <p:cNvSpPr/>
          <p:nvPr/>
        </p:nvSpPr>
        <p:spPr>
          <a:xfrm>
            <a:off x="1124640" y="1883520"/>
            <a:ext cx="4663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8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快速提問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Text 7"/>
          <p:cNvSpPr/>
          <p:nvPr/>
        </p:nvSpPr>
        <p:spPr>
          <a:xfrm>
            <a:off x="1124640" y="2304360"/>
            <a:ext cx="4663080" cy="134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點一下貓咪，輸入問題按 </a:t>
            </a:r>
            <a:r>
              <a:rPr b="0" lang="en-US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Enter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整理工作重點、解釋錯誤訊息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短答留在氣泡，長答自動展開卡片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Shape 8"/>
          <p:cNvSpPr/>
          <p:nvPr/>
        </p:nvSpPr>
        <p:spPr>
          <a:xfrm>
            <a:off x="6263640" y="1737360"/>
            <a:ext cx="5120280" cy="2057040"/>
          </a:xfrm>
          <a:prstGeom prst="rect">
            <a:avLst/>
          </a:prstGeom>
          <a:solidFill>
            <a:srgbClr val="f0f2fa"/>
          </a:solidFill>
          <a:ln w="9525">
            <a:solidFill>
              <a:srgbClr val="dde1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Shape 9"/>
          <p:cNvSpPr/>
          <p:nvPr/>
        </p:nvSpPr>
        <p:spPr>
          <a:xfrm>
            <a:off x="6263640" y="1737360"/>
            <a:ext cx="68400" cy="205704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Text 10"/>
          <p:cNvSpPr/>
          <p:nvPr/>
        </p:nvSpPr>
        <p:spPr>
          <a:xfrm>
            <a:off x="6519600" y="1883520"/>
            <a:ext cx="4663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LLM </a:t>
            </a:r>
            <a:r>
              <a:rPr b="1" lang="zh-CN" sz="18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交談介面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Text 11"/>
          <p:cNvSpPr/>
          <p:nvPr/>
        </p:nvSpPr>
        <p:spPr>
          <a:xfrm>
            <a:off x="6519600" y="2304360"/>
            <a:ext cx="4663080" cy="134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右鍵 →「交談（</a:t>
            </a:r>
            <a:r>
              <a:rPr b="0" lang="en-US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LLM </a:t>
            </a:r>
            <a:r>
              <a:rPr b="0" lang="zh-CN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介面）…」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多輪對話、對話紀錄、匯出 </a:t>
            </a:r>
            <a:r>
              <a:rPr b="0" lang="en-US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Markdown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頂端選單可切換公司核准的模型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簡報大綱匯出 </a:t>
            </a:r>
            <a:r>
              <a:rPr b="0" lang="en-US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PPTX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Shape 12"/>
          <p:cNvSpPr/>
          <p:nvPr/>
        </p:nvSpPr>
        <p:spPr>
          <a:xfrm>
            <a:off x="868680" y="3977640"/>
            <a:ext cx="5120280" cy="2057040"/>
          </a:xfrm>
          <a:prstGeom prst="rect">
            <a:avLst/>
          </a:prstGeom>
          <a:solidFill>
            <a:srgbClr val="f0f2fa"/>
          </a:solidFill>
          <a:ln w="9525">
            <a:solidFill>
              <a:srgbClr val="dde1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Shape 13"/>
          <p:cNvSpPr/>
          <p:nvPr/>
        </p:nvSpPr>
        <p:spPr>
          <a:xfrm>
            <a:off x="868680" y="3977640"/>
            <a:ext cx="68400" cy="205704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Text 14"/>
          <p:cNvSpPr/>
          <p:nvPr/>
        </p:nvSpPr>
        <p:spPr>
          <a:xfrm>
            <a:off x="1124640" y="4123800"/>
            <a:ext cx="4663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8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分析文件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Text 15"/>
          <p:cNvSpPr/>
          <p:nvPr/>
        </p:nvSpPr>
        <p:spPr>
          <a:xfrm>
            <a:off x="1124640" y="4544640"/>
            <a:ext cx="4663080" cy="134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右鍵 →「文件助手…」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en-US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PDF</a:t>
            </a:r>
            <a:r>
              <a:rPr b="0" lang="zh-CN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／</a:t>
            </a:r>
            <a:r>
              <a:rPr b="0" lang="en-US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Word</a:t>
            </a:r>
            <a:r>
              <a:rPr b="0" lang="zh-CN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／</a:t>
            </a:r>
            <a:r>
              <a:rPr b="0" lang="en-US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PowerPoint</a:t>
            </a:r>
            <a:r>
              <a:rPr b="0" lang="zh-CN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／</a:t>
            </a:r>
            <a:r>
              <a:rPr b="0" lang="en-US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Excel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摘要、流程 </a:t>
            </a:r>
            <a:r>
              <a:rPr b="0" lang="en-US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SOP</a:t>
            </a:r>
            <a:r>
              <a:rPr b="0" lang="zh-CN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、表格整理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Shape 16"/>
          <p:cNvSpPr/>
          <p:nvPr/>
        </p:nvSpPr>
        <p:spPr>
          <a:xfrm>
            <a:off x="6263640" y="3977640"/>
            <a:ext cx="5120280" cy="2057040"/>
          </a:xfrm>
          <a:prstGeom prst="rect">
            <a:avLst/>
          </a:prstGeom>
          <a:solidFill>
            <a:srgbClr val="f0f2fa"/>
          </a:solidFill>
          <a:ln w="9525">
            <a:solidFill>
              <a:srgbClr val="dde1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Shape 17"/>
          <p:cNvSpPr/>
          <p:nvPr/>
        </p:nvSpPr>
        <p:spPr>
          <a:xfrm>
            <a:off x="6263640" y="3977640"/>
            <a:ext cx="68400" cy="205704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Text 18"/>
          <p:cNvSpPr/>
          <p:nvPr/>
        </p:nvSpPr>
        <p:spPr>
          <a:xfrm>
            <a:off x="6519600" y="4123800"/>
            <a:ext cx="4663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8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文件問答與來源引用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Text 19"/>
          <p:cNvSpPr/>
          <p:nvPr/>
        </p:nvSpPr>
        <p:spPr>
          <a:xfrm>
            <a:off x="6519600" y="4544640"/>
            <a:ext cx="4663080" cy="134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回答只能使用找到的證據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附頁碼、段落、投影片或儲存格範圍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文件未提及時會明確說明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hape 0"/>
          <p:cNvSpPr/>
          <p:nvPr/>
        </p:nvSpPr>
        <p:spPr>
          <a:xfrm>
            <a:off x="0" y="0"/>
            <a:ext cx="12188520" cy="95976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Shape 1"/>
          <p:cNvSpPr/>
          <p:nvPr/>
        </p:nvSpPr>
        <p:spPr>
          <a:xfrm>
            <a:off x="0" y="960120"/>
            <a:ext cx="145800" cy="589752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Text 2"/>
          <p:cNvSpPr/>
          <p:nvPr/>
        </p:nvSpPr>
        <p:spPr>
          <a:xfrm>
            <a:off x="548640" y="1098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ClaudeCat </a:t>
            </a:r>
            <a:r>
              <a:rPr b="1" lang="zh-CN" sz="28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能做什麼（</a:t>
            </a:r>
            <a:r>
              <a:rPr b="1" lang="en-US" sz="28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2</a:t>
            </a:r>
            <a:r>
              <a:rPr b="1" lang="zh-CN" sz="28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／</a:t>
            </a:r>
            <a:r>
              <a:rPr b="1" lang="en-US" sz="28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2</a:t>
            </a:r>
            <a:r>
              <a:rPr b="1" lang="zh-CN" sz="28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）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Shape 3"/>
          <p:cNvSpPr/>
          <p:nvPr/>
        </p:nvSpPr>
        <p:spPr>
          <a:xfrm>
            <a:off x="868680" y="1234440"/>
            <a:ext cx="5120280" cy="1965600"/>
          </a:xfrm>
          <a:prstGeom prst="rect">
            <a:avLst/>
          </a:prstGeom>
          <a:solidFill>
            <a:srgbClr val="f0f2fa"/>
          </a:solidFill>
          <a:ln w="9525">
            <a:solidFill>
              <a:srgbClr val="dde1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Shape 4"/>
          <p:cNvSpPr/>
          <p:nvPr/>
        </p:nvSpPr>
        <p:spPr>
          <a:xfrm>
            <a:off x="868680" y="1234440"/>
            <a:ext cx="68400" cy="196560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Text 5"/>
          <p:cNvSpPr/>
          <p:nvPr/>
        </p:nvSpPr>
        <p:spPr>
          <a:xfrm>
            <a:off x="1124640" y="1380600"/>
            <a:ext cx="4663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8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翻譯工具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Text 6"/>
          <p:cNvSpPr/>
          <p:nvPr/>
        </p:nvSpPr>
        <p:spPr>
          <a:xfrm>
            <a:off x="1124640" y="1801440"/>
            <a:ext cx="4663080" cy="125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英／繁中／簡中，可自動偵測來源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保護程式碼、</a:t>
            </a:r>
            <a:r>
              <a:rPr b="0" lang="en-US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SQL</a:t>
            </a:r>
            <a:r>
              <a:rPr b="0" lang="zh-CN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、</a:t>
            </a:r>
            <a:r>
              <a:rPr b="0" lang="en-US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API path </a:t>
            </a:r>
            <a:r>
              <a:rPr b="0" lang="zh-CN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與檔名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Shape 7"/>
          <p:cNvSpPr/>
          <p:nvPr/>
        </p:nvSpPr>
        <p:spPr>
          <a:xfrm>
            <a:off x="6263640" y="1234440"/>
            <a:ext cx="5120280" cy="1965600"/>
          </a:xfrm>
          <a:prstGeom prst="rect">
            <a:avLst/>
          </a:prstGeom>
          <a:solidFill>
            <a:srgbClr val="f0f2fa"/>
          </a:solidFill>
          <a:ln w="9525">
            <a:solidFill>
              <a:srgbClr val="dde1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Shape 8"/>
          <p:cNvSpPr/>
          <p:nvPr/>
        </p:nvSpPr>
        <p:spPr>
          <a:xfrm>
            <a:off x="6263640" y="1234440"/>
            <a:ext cx="68400" cy="196560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Text 9"/>
          <p:cNvSpPr/>
          <p:nvPr/>
        </p:nvSpPr>
        <p:spPr>
          <a:xfrm>
            <a:off x="6519600" y="1380600"/>
            <a:ext cx="4663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8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桌寵 ・ </a:t>
            </a:r>
            <a:r>
              <a:rPr b="1" lang="en-US" sz="18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Skin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Text 10"/>
          <p:cNvSpPr/>
          <p:nvPr/>
        </p:nvSpPr>
        <p:spPr>
          <a:xfrm>
            <a:off x="6519600" y="1801440"/>
            <a:ext cx="4663080" cy="125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拖曳移動、系統匣顯示／隱藏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三種外觀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Shape 11"/>
          <p:cNvSpPr/>
          <p:nvPr/>
        </p:nvSpPr>
        <p:spPr>
          <a:xfrm>
            <a:off x="868680" y="5577840"/>
            <a:ext cx="10634040" cy="502560"/>
          </a:xfrm>
          <a:prstGeom prst="rect">
            <a:avLst/>
          </a:prstGeom>
          <a:solidFill>
            <a:srgbClr val="eef0f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Text 12"/>
          <p:cNvSpPr/>
          <p:nvPr/>
        </p:nvSpPr>
        <p:spPr>
          <a:xfrm>
            <a:off x="1051560" y="5577840"/>
            <a:ext cx="10268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350" spc="-1" strike="noStrike">
                <a:solidFill>
                  <a:srgbClr val="6b6e85"/>
                </a:solidFill>
                <a:latin typeface="Microsoft JhengHei"/>
                <a:ea typeface="Microsoft JhengHei"/>
              </a:rPr>
              <a:t>使用邊界：聊天與文件回答使用公司設定的內網 </a:t>
            </a:r>
            <a:r>
              <a:rPr b="0" lang="en-US" sz="1350" spc="-1" strike="noStrike">
                <a:solidFill>
                  <a:srgbClr val="6b6e85"/>
                </a:solidFill>
                <a:latin typeface="Microsoft JhengHei"/>
                <a:ea typeface="Microsoft JhengHei"/>
              </a:rPr>
              <a:t>LLM</a:t>
            </a:r>
            <a:r>
              <a:rPr b="0" lang="zh-CN" sz="1350" spc="-1" strike="noStrike">
                <a:solidFill>
                  <a:srgbClr val="6b6e85"/>
                </a:solidFill>
                <a:latin typeface="Microsoft JhengHei"/>
                <a:ea typeface="Microsoft JhengHei"/>
              </a:rPr>
              <a:t>。</a:t>
            </a:r>
            <a:r>
              <a:rPr b="0" lang="en-US" sz="1350" spc="-1" strike="noStrike">
                <a:solidFill>
                  <a:srgbClr val="6b6e85"/>
                </a:solidFill>
                <a:latin typeface="Microsoft JhengHei"/>
                <a:ea typeface="Microsoft JhengHei"/>
              </a:rPr>
              <a:t>Claude</a:t>
            </a:r>
            <a:r>
              <a:rPr b="0" lang="zh-CN" sz="1350" spc="-1" strike="noStrike">
                <a:solidFill>
                  <a:srgbClr val="6b6e85"/>
                </a:solidFill>
                <a:latin typeface="Microsoft JhengHei"/>
                <a:ea typeface="Microsoft JhengHei"/>
              </a:rPr>
              <a:t>／</a:t>
            </a:r>
            <a:r>
              <a:rPr b="0" lang="en-US" sz="1350" spc="-1" strike="noStrike">
                <a:solidFill>
                  <a:srgbClr val="6b6e85"/>
                </a:solidFill>
                <a:latin typeface="Microsoft JhengHei"/>
                <a:ea typeface="Microsoft JhengHei"/>
              </a:rPr>
              <a:t>Codex </a:t>
            </a:r>
            <a:r>
              <a:rPr b="0" lang="zh-CN" sz="1350" spc="-1" strike="noStrike">
                <a:solidFill>
                  <a:srgbClr val="6b6e85"/>
                </a:solidFill>
                <a:latin typeface="Microsoft JhengHei"/>
                <a:ea typeface="Microsoft JhengHei"/>
              </a:rPr>
              <a:t>用量功能完全獨立、預設關閉。使用者不需外網帳號。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hape 0"/>
          <p:cNvSpPr/>
          <p:nvPr/>
        </p:nvSpPr>
        <p:spPr>
          <a:xfrm>
            <a:off x="0" y="0"/>
            <a:ext cx="12188520" cy="95976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Shape 1"/>
          <p:cNvSpPr/>
          <p:nvPr/>
        </p:nvSpPr>
        <p:spPr>
          <a:xfrm>
            <a:off x="0" y="960120"/>
            <a:ext cx="145800" cy="589752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Text 2"/>
          <p:cNvSpPr/>
          <p:nvPr/>
        </p:nvSpPr>
        <p:spPr>
          <a:xfrm>
            <a:off x="548640" y="1098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28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切換公司核准的模型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Text 3"/>
          <p:cNvSpPr/>
          <p:nvPr/>
        </p:nvSpPr>
        <p:spPr>
          <a:xfrm>
            <a:off x="868680" y="1188720"/>
            <a:ext cx="10634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9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在交談介面頂端切換，不必自行設定連線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Shape 4"/>
          <p:cNvSpPr/>
          <p:nvPr/>
        </p:nvSpPr>
        <p:spPr>
          <a:xfrm>
            <a:off x="868680" y="1774080"/>
            <a:ext cx="420120" cy="420120"/>
          </a:xfrm>
          <a:prstGeom prst="ellipse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Text 5"/>
          <p:cNvSpPr/>
          <p:nvPr/>
        </p:nvSpPr>
        <p:spPr>
          <a:xfrm>
            <a:off x="868680" y="177408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1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Text 6"/>
          <p:cNvSpPr/>
          <p:nvPr/>
        </p:nvSpPr>
        <p:spPr>
          <a:xfrm>
            <a:off x="1490400" y="1719000"/>
            <a:ext cx="9920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5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右鍵點貓咪，選「交談（</a:t>
            </a:r>
            <a:r>
              <a:rPr b="0" lang="en-US" sz="15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LLM </a:t>
            </a:r>
            <a:r>
              <a:rPr b="0" lang="zh-CN" sz="15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介面）…」。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Shape 7"/>
          <p:cNvSpPr/>
          <p:nvPr/>
        </p:nvSpPr>
        <p:spPr>
          <a:xfrm>
            <a:off x="868680" y="2340720"/>
            <a:ext cx="420120" cy="420120"/>
          </a:xfrm>
          <a:prstGeom prst="ellipse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" name="Text 8"/>
          <p:cNvSpPr/>
          <p:nvPr/>
        </p:nvSpPr>
        <p:spPr>
          <a:xfrm>
            <a:off x="868680" y="234072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2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Text 9"/>
          <p:cNvSpPr/>
          <p:nvPr/>
        </p:nvSpPr>
        <p:spPr>
          <a:xfrm>
            <a:off x="1490400" y="2286000"/>
            <a:ext cx="9920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5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在視窗頂端的模型選單挑選要用的模型。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Shape 10"/>
          <p:cNvSpPr/>
          <p:nvPr/>
        </p:nvSpPr>
        <p:spPr>
          <a:xfrm>
            <a:off x="868680" y="2907720"/>
            <a:ext cx="420120" cy="420120"/>
          </a:xfrm>
          <a:prstGeom prst="ellipse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 11"/>
          <p:cNvSpPr/>
          <p:nvPr/>
        </p:nvSpPr>
        <p:spPr>
          <a:xfrm>
            <a:off x="868680" y="290772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3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 12"/>
          <p:cNvSpPr/>
          <p:nvPr/>
        </p:nvSpPr>
        <p:spPr>
          <a:xfrm>
            <a:off x="1490400" y="2853000"/>
            <a:ext cx="9920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5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選好即刻生效，並會記住到下次開啟。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Shape 13"/>
          <p:cNvSpPr/>
          <p:nvPr/>
        </p:nvSpPr>
        <p:spPr>
          <a:xfrm>
            <a:off x="868680" y="3630240"/>
            <a:ext cx="5120280" cy="1782720"/>
          </a:xfrm>
          <a:prstGeom prst="rect">
            <a:avLst/>
          </a:prstGeom>
          <a:solidFill>
            <a:srgbClr val="f0f2fa"/>
          </a:solidFill>
          <a:ln w="9525">
            <a:solidFill>
              <a:srgbClr val="dde1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Shape 14"/>
          <p:cNvSpPr/>
          <p:nvPr/>
        </p:nvSpPr>
        <p:spPr>
          <a:xfrm>
            <a:off x="868680" y="3630240"/>
            <a:ext cx="68400" cy="178272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Text 15"/>
          <p:cNvSpPr/>
          <p:nvPr/>
        </p:nvSpPr>
        <p:spPr>
          <a:xfrm>
            <a:off x="1124640" y="3776400"/>
            <a:ext cx="4663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Qwen</a:t>
            </a:r>
            <a:r>
              <a:rPr b="1" lang="zh-CN" sz="18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（預設）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Text 16"/>
          <p:cNvSpPr/>
          <p:nvPr/>
        </p:nvSpPr>
        <p:spPr>
          <a:xfrm>
            <a:off x="1124640" y="4197240"/>
            <a:ext cx="4663080" cy="106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en-US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Qwen/Qwen3.6-35B-A3B-FP8-nothink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要簡報大綱時直接產出分頁內容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隨即出現 </a:t>
            </a:r>
            <a:r>
              <a:rPr b="0" lang="en-US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PPT </a:t>
            </a:r>
            <a:r>
              <a:rPr b="0" lang="zh-CN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按鈕可一鍵轉檔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Shape 17"/>
          <p:cNvSpPr/>
          <p:nvPr/>
        </p:nvSpPr>
        <p:spPr>
          <a:xfrm>
            <a:off x="6263640" y="3630240"/>
            <a:ext cx="5120280" cy="1782720"/>
          </a:xfrm>
          <a:prstGeom prst="rect">
            <a:avLst/>
          </a:prstGeom>
          <a:solidFill>
            <a:srgbClr val="f0f2fa"/>
          </a:solidFill>
          <a:ln w="9525">
            <a:solidFill>
              <a:srgbClr val="dde1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Shape 18"/>
          <p:cNvSpPr/>
          <p:nvPr/>
        </p:nvSpPr>
        <p:spPr>
          <a:xfrm>
            <a:off x="6263640" y="3630240"/>
            <a:ext cx="68400" cy="178272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 19"/>
          <p:cNvSpPr/>
          <p:nvPr/>
        </p:nvSpPr>
        <p:spPr>
          <a:xfrm>
            <a:off x="6519600" y="3776400"/>
            <a:ext cx="4663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gemma-4-31B-it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Text 20"/>
          <p:cNvSpPr/>
          <p:nvPr/>
        </p:nvSpPr>
        <p:spPr>
          <a:xfrm>
            <a:off x="6519600" y="4197240"/>
            <a:ext cx="4663080" cy="106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傾向先回覆規劃方法與建議工具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（故事線、</a:t>
            </a:r>
            <a:r>
              <a:rPr b="0" lang="en-US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Mermaid</a:t>
            </a:r>
            <a:r>
              <a:rPr b="0" lang="zh-CN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、</a:t>
            </a:r>
            <a:r>
              <a:rPr b="0" lang="en-US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VBA </a:t>
            </a:r>
            <a:r>
              <a:rPr b="0" lang="zh-CN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腳本）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不直接產出分頁，不會出現 </a:t>
            </a:r>
            <a:r>
              <a:rPr b="0" lang="en-US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PPT </a:t>
            </a:r>
            <a:r>
              <a:rPr b="0" lang="zh-CN" sz="14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按鈕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Shape 21"/>
          <p:cNvSpPr/>
          <p:nvPr/>
        </p:nvSpPr>
        <p:spPr>
          <a:xfrm>
            <a:off x="868680" y="5532120"/>
            <a:ext cx="10634040" cy="502560"/>
          </a:xfrm>
          <a:prstGeom prst="rect">
            <a:avLst/>
          </a:prstGeom>
          <a:solidFill>
            <a:srgbClr val="eef0f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Text 22"/>
          <p:cNvSpPr/>
          <p:nvPr/>
        </p:nvSpPr>
        <p:spPr>
          <a:xfrm>
            <a:off x="1051560" y="5532120"/>
            <a:ext cx="10268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350" spc="-1" strike="noStrike">
                <a:solidFill>
                  <a:srgbClr val="6b6e85"/>
                </a:solidFill>
                <a:latin typeface="Microsoft JhengHei"/>
                <a:ea typeface="Microsoft JhengHei"/>
              </a:rPr>
              <a:t>連線端點自動跟著模型切換；只能在公司核准清單內選擇，不需外網帳號或 </a:t>
            </a:r>
            <a:r>
              <a:rPr b="0" lang="en-US" sz="1350" spc="-1" strike="noStrike">
                <a:solidFill>
                  <a:srgbClr val="6b6e85"/>
                </a:solidFill>
                <a:latin typeface="Microsoft JhengHei"/>
                <a:ea typeface="Microsoft JhengHei"/>
              </a:rPr>
              <a:t>API Key</a:t>
            </a:r>
            <a:r>
              <a:rPr b="0" lang="zh-CN" sz="1350" spc="-1" strike="noStrike">
                <a:solidFill>
                  <a:srgbClr val="6b6e85"/>
                </a:solidFill>
                <a:latin typeface="Microsoft JhengHei"/>
                <a:ea typeface="Microsoft JhengHei"/>
              </a:rPr>
              <a:t>。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Shape 23"/>
          <p:cNvSpPr/>
          <p:nvPr/>
        </p:nvSpPr>
        <p:spPr>
          <a:xfrm>
            <a:off x="868680" y="6126480"/>
            <a:ext cx="10634040" cy="502560"/>
          </a:xfrm>
          <a:prstGeom prst="rect">
            <a:avLst/>
          </a:prstGeom>
          <a:solidFill>
            <a:srgbClr val="eef0f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Text 24"/>
          <p:cNvSpPr/>
          <p:nvPr/>
        </p:nvSpPr>
        <p:spPr>
          <a:xfrm>
            <a:off x="1051560" y="6126480"/>
            <a:ext cx="10268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350" spc="-1" strike="noStrike">
                <a:solidFill>
                  <a:srgbClr val="6b6e85"/>
                </a:solidFill>
                <a:latin typeface="Microsoft JhengHei"/>
                <a:ea typeface="Microsoft JhengHei"/>
              </a:rPr>
              <a:t>要一鍵轉出簡報請使用 </a:t>
            </a:r>
            <a:r>
              <a:rPr b="0" lang="en-US" sz="1350" spc="-1" strike="noStrike">
                <a:solidFill>
                  <a:srgbClr val="6b6e85"/>
                </a:solidFill>
                <a:latin typeface="Microsoft JhengHei"/>
                <a:ea typeface="Microsoft JhengHei"/>
              </a:rPr>
              <a:t>Qwen</a:t>
            </a:r>
            <a:r>
              <a:rPr b="0" lang="zh-CN" sz="1350" spc="-1" strike="noStrike">
                <a:solidFill>
                  <a:srgbClr val="6b6e85"/>
                </a:solidFill>
                <a:latin typeface="Microsoft JhengHei"/>
                <a:ea typeface="Microsoft JhengHei"/>
              </a:rPr>
              <a:t>（</a:t>
            </a:r>
            <a:r>
              <a:rPr b="0" lang="en-US" sz="1350" spc="-1" strike="noStrike">
                <a:solidFill>
                  <a:srgbClr val="6b6e85"/>
                </a:solidFill>
                <a:latin typeface="Microsoft JhengHei"/>
                <a:ea typeface="Microsoft JhengHei"/>
              </a:rPr>
              <a:t>2026-07-24 </a:t>
            </a:r>
            <a:r>
              <a:rPr b="0" lang="zh-CN" sz="1350" spc="-1" strike="noStrike">
                <a:solidFill>
                  <a:srgbClr val="6b6e85"/>
                </a:solidFill>
                <a:latin typeface="Microsoft JhengHei"/>
                <a:ea typeface="Microsoft JhengHei"/>
              </a:rPr>
              <a:t>實測；模型行為可能隨版本改變）。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hape 0"/>
          <p:cNvSpPr/>
          <p:nvPr/>
        </p:nvSpPr>
        <p:spPr>
          <a:xfrm>
            <a:off x="0" y="0"/>
            <a:ext cx="12188520" cy="95976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" name="Shape 1"/>
          <p:cNvSpPr/>
          <p:nvPr/>
        </p:nvSpPr>
        <p:spPr>
          <a:xfrm>
            <a:off x="0" y="960120"/>
            <a:ext cx="145800" cy="589752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Text 2"/>
          <p:cNvSpPr/>
          <p:nvPr/>
        </p:nvSpPr>
        <p:spPr>
          <a:xfrm>
            <a:off x="548640" y="1098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Agenda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Shape 3"/>
          <p:cNvSpPr/>
          <p:nvPr/>
        </p:nvSpPr>
        <p:spPr>
          <a:xfrm>
            <a:off x="868680" y="1691640"/>
            <a:ext cx="420120" cy="420120"/>
          </a:xfrm>
          <a:prstGeom prst="ellipse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" name="Text 4"/>
          <p:cNvSpPr/>
          <p:nvPr/>
        </p:nvSpPr>
        <p:spPr>
          <a:xfrm>
            <a:off x="868680" y="169164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1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Text 5"/>
          <p:cNvSpPr/>
          <p:nvPr/>
        </p:nvSpPr>
        <p:spPr>
          <a:xfrm>
            <a:off x="1490400" y="1636920"/>
            <a:ext cx="9920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9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快速提問與長回答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Shape 6"/>
          <p:cNvSpPr/>
          <p:nvPr/>
        </p:nvSpPr>
        <p:spPr>
          <a:xfrm>
            <a:off x="868680" y="2532960"/>
            <a:ext cx="420120" cy="420120"/>
          </a:xfrm>
          <a:prstGeom prst="ellipse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" name="Text 7"/>
          <p:cNvSpPr/>
          <p:nvPr/>
        </p:nvSpPr>
        <p:spPr>
          <a:xfrm>
            <a:off x="868680" y="253296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2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Text 8"/>
          <p:cNvSpPr/>
          <p:nvPr/>
        </p:nvSpPr>
        <p:spPr>
          <a:xfrm>
            <a:off x="1490400" y="2477880"/>
            <a:ext cx="9920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9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切換到 </a:t>
            </a:r>
            <a:r>
              <a:rPr b="0" lang="en-US" sz="19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LLM </a:t>
            </a:r>
            <a:r>
              <a:rPr b="0" lang="zh-CN" sz="19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交談介面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Shape 9"/>
          <p:cNvSpPr/>
          <p:nvPr/>
        </p:nvSpPr>
        <p:spPr>
          <a:xfrm>
            <a:off x="868680" y="3374280"/>
            <a:ext cx="420120" cy="420120"/>
          </a:xfrm>
          <a:prstGeom prst="ellipse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Text 10"/>
          <p:cNvSpPr/>
          <p:nvPr/>
        </p:nvSpPr>
        <p:spPr>
          <a:xfrm>
            <a:off x="868680" y="337428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3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Text 11"/>
          <p:cNvSpPr/>
          <p:nvPr/>
        </p:nvSpPr>
        <p:spPr>
          <a:xfrm>
            <a:off x="1490400" y="3319200"/>
            <a:ext cx="9920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9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切換公司核准的模型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Shape 12"/>
          <p:cNvSpPr/>
          <p:nvPr/>
        </p:nvSpPr>
        <p:spPr>
          <a:xfrm>
            <a:off x="868680" y="4215240"/>
            <a:ext cx="420120" cy="420120"/>
          </a:xfrm>
          <a:prstGeom prst="ellipse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" name="Text 13"/>
          <p:cNvSpPr/>
          <p:nvPr/>
        </p:nvSpPr>
        <p:spPr>
          <a:xfrm>
            <a:off x="868680" y="421524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4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Text 14"/>
          <p:cNvSpPr/>
          <p:nvPr/>
        </p:nvSpPr>
        <p:spPr>
          <a:xfrm>
            <a:off x="1490400" y="4160520"/>
            <a:ext cx="9920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9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分析文件、文件問答與來源引用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Shape 15"/>
          <p:cNvSpPr/>
          <p:nvPr/>
        </p:nvSpPr>
        <p:spPr>
          <a:xfrm>
            <a:off x="868680" y="5056560"/>
            <a:ext cx="420120" cy="420120"/>
          </a:xfrm>
          <a:prstGeom prst="ellipse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Text 16"/>
          <p:cNvSpPr/>
          <p:nvPr/>
        </p:nvSpPr>
        <p:spPr>
          <a:xfrm>
            <a:off x="868680" y="505656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5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Text 17"/>
          <p:cNvSpPr/>
          <p:nvPr/>
        </p:nvSpPr>
        <p:spPr>
          <a:xfrm>
            <a:off x="1490400" y="5001840"/>
            <a:ext cx="9920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9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桌寵管理、</a:t>
            </a:r>
            <a:r>
              <a:rPr b="0" lang="en-US" sz="19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Skin</a:t>
            </a:r>
            <a:r>
              <a:rPr b="0" lang="zh-CN" sz="19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與安全結束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Shape 0"/>
          <p:cNvSpPr/>
          <p:nvPr/>
        </p:nvSpPr>
        <p:spPr>
          <a:xfrm>
            <a:off x="0" y="0"/>
            <a:ext cx="12188520" cy="95976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" name="Shape 1"/>
          <p:cNvSpPr/>
          <p:nvPr/>
        </p:nvSpPr>
        <p:spPr>
          <a:xfrm>
            <a:off x="0" y="960120"/>
            <a:ext cx="145800" cy="589752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 2"/>
          <p:cNvSpPr/>
          <p:nvPr/>
        </p:nvSpPr>
        <p:spPr>
          <a:xfrm>
            <a:off x="548640" y="1098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28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快速提問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Text 3"/>
          <p:cNvSpPr/>
          <p:nvPr/>
        </p:nvSpPr>
        <p:spPr>
          <a:xfrm>
            <a:off x="868680" y="1188720"/>
            <a:ext cx="10634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9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一般問題，不必另開聊天視窗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Shape 4"/>
          <p:cNvSpPr/>
          <p:nvPr/>
        </p:nvSpPr>
        <p:spPr>
          <a:xfrm>
            <a:off x="868680" y="2075760"/>
            <a:ext cx="420120" cy="420120"/>
          </a:xfrm>
          <a:prstGeom prst="ellipse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Text 5"/>
          <p:cNvSpPr/>
          <p:nvPr/>
        </p:nvSpPr>
        <p:spPr>
          <a:xfrm>
            <a:off x="868680" y="207576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1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Text 6"/>
          <p:cNvSpPr/>
          <p:nvPr/>
        </p:nvSpPr>
        <p:spPr>
          <a:xfrm>
            <a:off x="1490400" y="2020680"/>
            <a:ext cx="9920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7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點一下桌面貓咪。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Shape 7"/>
          <p:cNvSpPr/>
          <p:nvPr/>
        </p:nvSpPr>
        <p:spPr>
          <a:xfrm>
            <a:off x="868680" y="2944440"/>
            <a:ext cx="420120" cy="420120"/>
          </a:xfrm>
          <a:prstGeom prst="ellipse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Text 8"/>
          <p:cNvSpPr/>
          <p:nvPr/>
        </p:nvSpPr>
        <p:spPr>
          <a:xfrm>
            <a:off x="868680" y="294444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2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Text 9"/>
          <p:cNvSpPr/>
          <p:nvPr/>
        </p:nvSpPr>
        <p:spPr>
          <a:xfrm>
            <a:off x="1490400" y="2889360"/>
            <a:ext cx="9920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7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在旁邊輸入問題後按 </a:t>
            </a:r>
            <a:r>
              <a:rPr b="0" lang="en-US" sz="17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Enter</a:t>
            </a:r>
            <a:r>
              <a:rPr b="0" lang="zh-CN" sz="17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。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Shape 10"/>
          <p:cNvSpPr/>
          <p:nvPr/>
        </p:nvSpPr>
        <p:spPr>
          <a:xfrm>
            <a:off x="868680" y="3813120"/>
            <a:ext cx="420120" cy="420120"/>
          </a:xfrm>
          <a:prstGeom prst="ellipse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" name="Text 11"/>
          <p:cNvSpPr/>
          <p:nvPr/>
        </p:nvSpPr>
        <p:spPr>
          <a:xfrm>
            <a:off x="868680" y="381312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3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 12"/>
          <p:cNvSpPr/>
          <p:nvPr/>
        </p:nvSpPr>
        <p:spPr>
          <a:xfrm>
            <a:off x="1490400" y="3758040"/>
            <a:ext cx="9920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7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短答案直接顯示成氣泡。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Shape 13"/>
          <p:cNvSpPr/>
          <p:nvPr/>
        </p:nvSpPr>
        <p:spPr>
          <a:xfrm>
            <a:off x="868680" y="5120640"/>
            <a:ext cx="10634040" cy="502560"/>
          </a:xfrm>
          <a:prstGeom prst="rect">
            <a:avLst/>
          </a:prstGeom>
          <a:solidFill>
            <a:srgbClr val="eef0f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Text 14"/>
          <p:cNvSpPr/>
          <p:nvPr/>
        </p:nvSpPr>
        <p:spPr>
          <a:xfrm>
            <a:off x="1051560" y="5120640"/>
            <a:ext cx="10268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350" spc="-1" strike="noStrike">
                <a:solidFill>
                  <a:srgbClr val="6b6e85"/>
                </a:solidFill>
                <a:latin typeface="Microsoft JhengHei"/>
                <a:ea typeface="Microsoft JhengHei"/>
              </a:rPr>
              <a:t>範例：今天的工作重點怎麼整理？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Shape 0"/>
          <p:cNvSpPr/>
          <p:nvPr/>
        </p:nvSpPr>
        <p:spPr>
          <a:xfrm>
            <a:off x="0" y="0"/>
            <a:ext cx="12188520" cy="95976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Shape 1"/>
          <p:cNvSpPr/>
          <p:nvPr/>
        </p:nvSpPr>
        <p:spPr>
          <a:xfrm>
            <a:off x="0" y="960120"/>
            <a:ext cx="145800" cy="589752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Text 2"/>
          <p:cNvSpPr/>
          <p:nvPr/>
        </p:nvSpPr>
        <p:spPr>
          <a:xfrm>
            <a:off x="548640" y="1098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28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長回答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 3"/>
          <p:cNvSpPr/>
          <p:nvPr/>
        </p:nvSpPr>
        <p:spPr>
          <a:xfrm>
            <a:off x="868680" y="1188720"/>
            <a:ext cx="10634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9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需要細節時，展開成貓咪旁的卡片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Shape 4"/>
          <p:cNvSpPr/>
          <p:nvPr/>
        </p:nvSpPr>
        <p:spPr>
          <a:xfrm>
            <a:off x="868680" y="1984320"/>
            <a:ext cx="10606680" cy="2377080"/>
          </a:xfrm>
          <a:prstGeom prst="rect">
            <a:avLst/>
          </a:prstGeom>
          <a:solidFill>
            <a:srgbClr val="f0f2fa"/>
          </a:solidFill>
          <a:ln w="9525">
            <a:solidFill>
              <a:srgbClr val="dde1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Shape 5"/>
          <p:cNvSpPr/>
          <p:nvPr/>
        </p:nvSpPr>
        <p:spPr>
          <a:xfrm>
            <a:off x="868680" y="1984320"/>
            <a:ext cx="68400" cy="237708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Text 6"/>
          <p:cNvSpPr/>
          <p:nvPr/>
        </p:nvSpPr>
        <p:spPr>
          <a:xfrm>
            <a:off x="1124640" y="2130480"/>
            <a:ext cx="101494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8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卡片可以做什麼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Text 7"/>
          <p:cNvSpPr/>
          <p:nvPr/>
        </p:nvSpPr>
        <p:spPr>
          <a:xfrm>
            <a:off x="1124640" y="2551320"/>
            <a:ext cx="10149480" cy="166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可複製答案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可繼續追問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完成後可收合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Shape 8"/>
          <p:cNvSpPr/>
          <p:nvPr/>
        </p:nvSpPr>
        <p:spPr>
          <a:xfrm>
            <a:off x="868680" y="5394960"/>
            <a:ext cx="10634040" cy="502560"/>
          </a:xfrm>
          <a:prstGeom prst="rect">
            <a:avLst/>
          </a:prstGeom>
          <a:solidFill>
            <a:srgbClr val="eef0f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Text 9"/>
          <p:cNvSpPr/>
          <p:nvPr/>
        </p:nvSpPr>
        <p:spPr>
          <a:xfrm>
            <a:off x="1051560" y="5394960"/>
            <a:ext cx="10268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350" spc="-1" strike="noStrike">
                <a:solidFill>
                  <a:srgbClr val="6b6e85"/>
                </a:solidFill>
                <a:latin typeface="Microsoft JhengHei"/>
                <a:ea typeface="Microsoft JhengHei"/>
              </a:rPr>
              <a:t>範例：</a:t>
            </a:r>
            <a:r>
              <a:rPr b="0" lang="en-US" sz="1350" spc="-1" strike="noStrike">
                <a:solidFill>
                  <a:srgbClr val="6b6e85"/>
                </a:solidFill>
                <a:latin typeface="Microsoft JhengHei"/>
                <a:ea typeface="Microsoft JhengHei"/>
              </a:rPr>
              <a:t>SQL Review</a:t>
            </a:r>
            <a:r>
              <a:rPr b="0" lang="zh-CN" sz="1350" spc="-1" strike="noStrike">
                <a:solidFill>
                  <a:srgbClr val="6b6e85"/>
                </a:solidFill>
                <a:latin typeface="Microsoft JhengHei"/>
                <a:ea typeface="Microsoft JhengHei"/>
              </a:rPr>
              <a:t>、文件重點整理。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Shape 0"/>
          <p:cNvSpPr/>
          <p:nvPr/>
        </p:nvSpPr>
        <p:spPr>
          <a:xfrm>
            <a:off x="0" y="0"/>
            <a:ext cx="12188520" cy="95976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Shape 1"/>
          <p:cNvSpPr/>
          <p:nvPr/>
        </p:nvSpPr>
        <p:spPr>
          <a:xfrm>
            <a:off x="0" y="960120"/>
            <a:ext cx="145800" cy="589752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Text 2"/>
          <p:cNvSpPr/>
          <p:nvPr/>
        </p:nvSpPr>
        <p:spPr>
          <a:xfrm>
            <a:off x="548640" y="1098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28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切換到 </a:t>
            </a:r>
            <a:r>
              <a:rPr b="1" lang="en-US" sz="28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LLM </a:t>
            </a:r>
            <a:r>
              <a:rPr b="1" lang="zh-CN" sz="28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交談介面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Text 3"/>
          <p:cNvSpPr/>
          <p:nvPr/>
        </p:nvSpPr>
        <p:spPr>
          <a:xfrm>
            <a:off x="868680" y="1188720"/>
            <a:ext cx="10634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9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需要多輪對話或工具箱時，開啟完整介面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Shape 4"/>
          <p:cNvSpPr/>
          <p:nvPr/>
        </p:nvSpPr>
        <p:spPr>
          <a:xfrm>
            <a:off x="868680" y="1847160"/>
            <a:ext cx="420120" cy="420120"/>
          </a:xfrm>
          <a:prstGeom prst="ellipse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" name="Text 5"/>
          <p:cNvSpPr/>
          <p:nvPr/>
        </p:nvSpPr>
        <p:spPr>
          <a:xfrm>
            <a:off x="868680" y="184716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1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 6"/>
          <p:cNvSpPr/>
          <p:nvPr/>
        </p:nvSpPr>
        <p:spPr>
          <a:xfrm>
            <a:off x="1490400" y="1792080"/>
            <a:ext cx="9920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右鍵點選桌面貓咪。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Shape 7"/>
          <p:cNvSpPr/>
          <p:nvPr/>
        </p:nvSpPr>
        <p:spPr>
          <a:xfrm>
            <a:off x="868680" y="2505600"/>
            <a:ext cx="420120" cy="420120"/>
          </a:xfrm>
          <a:prstGeom prst="ellipse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" name="Text 8"/>
          <p:cNvSpPr/>
          <p:nvPr/>
        </p:nvSpPr>
        <p:spPr>
          <a:xfrm>
            <a:off x="868680" y="250560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2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Text 9"/>
          <p:cNvSpPr/>
          <p:nvPr/>
        </p:nvSpPr>
        <p:spPr>
          <a:xfrm>
            <a:off x="1490400" y="2450520"/>
            <a:ext cx="9920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選「交談（</a:t>
            </a:r>
            <a:r>
              <a:rPr b="0" lang="en-US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LLM </a:t>
            </a:r>
            <a:r>
              <a:rPr b="0" lang="zh-CN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介面）…」。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Shape 10"/>
          <p:cNvSpPr/>
          <p:nvPr/>
        </p:nvSpPr>
        <p:spPr>
          <a:xfrm>
            <a:off x="868680" y="3163680"/>
            <a:ext cx="420120" cy="420120"/>
          </a:xfrm>
          <a:prstGeom prst="ellipse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" name="Text 11"/>
          <p:cNvSpPr/>
          <p:nvPr/>
        </p:nvSpPr>
        <p:spPr>
          <a:xfrm>
            <a:off x="868680" y="316368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3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Text 12"/>
          <p:cNvSpPr/>
          <p:nvPr/>
        </p:nvSpPr>
        <p:spPr>
          <a:xfrm>
            <a:off x="1490400" y="3108960"/>
            <a:ext cx="9920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多輪對話，或切換 翻譯工具。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Shape 13"/>
          <p:cNvSpPr/>
          <p:nvPr/>
        </p:nvSpPr>
        <p:spPr>
          <a:xfrm>
            <a:off x="868680" y="3977640"/>
            <a:ext cx="10606680" cy="1828440"/>
          </a:xfrm>
          <a:prstGeom prst="rect">
            <a:avLst/>
          </a:prstGeom>
          <a:solidFill>
            <a:srgbClr val="f0f2fa"/>
          </a:solidFill>
          <a:ln w="9525">
            <a:solidFill>
              <a:srgbClr val="dde1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Shape 14"/>
          <p:cNvSpPr/>
          <p:nvPr/>
        </p:nvSpPr>
        <p:spPr>
          <a:xfrm>
            <a:off x="868680" y="3977640"/>
            <a:ext cx="68400" cy="182844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Text 15"/>
          <p:cNvSpPr/>
          <p:nvPr/>
        </p:nvSpPr>
        <p:spPr>
          <a:xfrm>
            <a:off x="1124640" y="4123800"/>
            <a:ext cx="101494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8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此介面也可使用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Text 16"/>
          <p:cNvSpPr/>
          <p:nvPr/>
        </p:nvSpPr>
        <p:spPr>
          <a:xfrm>
            <a:off x="1124640" y="4544640"/>
            <a:ext cx="10149480" cy="111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4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側欄對話紀錄：回看或繼續之前的對話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en-US" sz="14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Markdown</a:t>
            </a:r>
            <a:r>
              <a:rPr b="0" lang="zh-CN" sz="14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／程式碼複製　　・　簡報匯出 </a:t>
            </a:r>
            <a:r>
              <a:rPr b="0" lang="en-US" sz="14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PPTX</a:t>
            </a:r>
            <a:r>
              <a:rPr b="0" lang="zh-CN" sz="14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　　・　輸入 </a:t>
            </a:r>
            <a:r>
              <a:rPr b="0" lang="en-US" sz="14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/ </a:t>
            </a:r>
            <a:r>
              <a:rPr b="0" lang="zh-CN" sz="14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叫出快速提示詞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Shape 17"/>
          <p:cNvSpPr/>
          <p:nvPr/>
        </p:nvSpPr>
        <p:spPr>
          <a:xfrm>
            <a:off x="868680" y="6035040"/>
            <a:ext cx="10634040" cy="502560"/>
          </a:xfrm>
          <a:prstGeom prst="rect">
            <a:avLst/>
          </a:prstGeom>
          <a:solidFill>
            <a:srgbClr val="eef0f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Text 18"/>
          <p:cNvSpPr/>
          <p:nvPr/>
        </p:nvSpPr>
        <p:spPr>
          <a:xfrm>
            <a:off x="1051560" y="6035040"/>
            <a:ext cx="10268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350" spc="-1" strike="noStrike">
                <a:solidFill>
                  <a:srgbClr val="6b6e85"/>
                </a:solidFill>
                <a:latin typeface="Microsoft JhengHei"/>
                <a:ea typeface="Microsoft JhengHei"/>
              </a:rPr>
              <a:t>快速問題仍建議直接點貓咪，較不打斷工作流程。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Shape 0"/>
          <p:cNvSpPr/>
          <p:nvPr/>
        </p:nvSpPr>
        <p:spPr>
          <a:xfrm>
            <a:off x="0" y="0"/>
            <a:ext cx="12188520" cy="95976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Shape 1"/>
          <p:cNvSpPr/>
          <p:nvPr/>
        </p:nvSpPr>
        <p:spPr>
          <a:xfrm>
            <a:off x="0" y="960120"/>
            <a:ext cx="145800" cy="589752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 2"/>
          <p:cNvSpPr/>
          <p:nvPr/>
        </p:nvSpPr>
        <p:spPr>
          <a:xfrm>
            <a:off x="548640" y="1098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28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分析文件與文件問答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 3"/>
          <p:cNvSpPr/>
          <p:nvPr/>
        </p:nvSpPr>
        <p:spPr>
          <a:xfrm>
            <a:off x="868680" y="1188720"/>
            <a:ext cx="10634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9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把文件交給貓咪，再依來源提問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Shape 4"/>
          <p:cNvSpPr/>
          <p:nvPr/>
        </p:nvSpPr>
        <p:spPr>
          <a:xfrm>
            <a:off x="868680" y="1892880"/>
            <a:ext cx="420120" cy="420120"/>
          </a:xfrm>
          <a:prstGeom prst="ellipse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Text 5"/>
          <p:cNvSpPr/>
          <p:nvPr/>
        </p:nvSpPr>
        <p:spPr>
          <a:xfrm>
            <a:off x="868680" y="189288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1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Text 6"/>
          <p:cNvSpPr/>
          <p:nvPr/>
        </p:nvSpPr>
        <p:spPr>
          <a:xfrm>
            <a:off x="1490400" y="1837800"/>
            <a:ext cx="9920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右鍵點貓咪，選「文件助手…」。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Shape 7"/>
          <p:cNvSpPr/>
          <p:nvPr/>
        </p:nvSpPr>
        <p:spPr>
          <a:xfrm>
            <a:off x="868680" y="2670120"/>
            <a:ext cx="420120" cy="420120"/>
          </a:xfrm>
          <a:prstGeom prst="ellipse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Text 8"/>
          <p:cNvSpPr/>
          <p:nvPr/>
        </p:nvSpPr>
        <p:spPr>
          <a:xfrm>
            <a:off x="868680" y="267012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2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Text 9"/>
          <p:cNvSpPr/>
          <p:nvPr/>
        </p:nvSpPr>
        <p:spPr>
          <a:xfrm>
            <a:off x="1490400" y="2615040"/>
            <a:ext cx="9920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選擇 </a:t>
            </a:r>
            <a:r>
              <a:rPr b="0" lang="en-US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PDF</a:t>
            </a:r>
            <a:r>
              <a:rPr b="0" lang="zh-CN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／</a:t>
            </a:r>
            <a:r>
              <a:rPr b="0" lang="en-US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Word</a:t>
            </a:r>
            <a:r>
              <a:rPr b="0" lang="zh-CN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／</a:t>
            </a:r>
            <a:r>
              <a:rPr b="0" lang="en-US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PowerPoint</a:t>
            </a:r>
            <a:r>
              <a:rPr b="0" lang="zh-CN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／</a:t>
            </a:r>
            <a:r>
              <a:rPr b="0" lang="en-US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Excel</a:t>
            </a:r>
            <a:r>
              <a:rPr b="0" lang="zh-CN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，等待本機索引完成。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Shape 10"/>
          <p:cNvSpPr/>
          <p:nvPr/>
        </p:nvSpPr>
        <p:spPr>
          <a:xfrm>
            <a:off x="868680" y="3447360"/>
            <a:ext cx="420120" cy="420120"/>
          </a:xfrm>
          <a:prstGeom prst="ellipse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" name="Text 11"/>
          <p:cNvSpPr/>
          <p:nvPr/>
        </p:nvSpPr>
        <p:spPr>
          <a:xfrm>
            <a:off x="868680" y="344736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3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Text 12"/>
          <p:cNvSpPr/>
          <p:nvPr/>
        </p:nvSpPr>
        <p:spPr>
          <a:xfrm>
            <a:off x="1490400" y="3392280"/>
            <a:ext cx="9920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可執行摘要、流程 </a:t>
            </a:r>
            <a:r>
              <a:rPr b="0" lang="en-US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SOP</a:t>
            </a:r>
            <a:r>
              <a:rPr b="0" lang="zh-CN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、表格整理。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Shape 13"/>
          <p:cNvSpPr/>
          <p:nvPr/>
        </p:nvSpPr>
        <p:spPr>
          <a:xfrm>
            <a:off x="868680" y="4224600"/>
            <a:ext cx="420120" cy="420120"/>
          </a:xfrm>
          <a:prstGeom prst="ellipse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Text 14"/>
          <p:cNvSpPr/>
          <p:nvPr/>
        </p:nvSpPr>
        <p:spPr>
          <a:xfrm>
            <a:off x="868680" y="422460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4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Text 15"/>
          <p:cNvSpPr/>
          <p:nvPr/>
        </p:nvSpPr>
        <p:spPr>
          <a:xfrm>
            <a:off x="1490400" y="4169520"/>
            <a:ext cx="9920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提問並查看答案下方的來源引用。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Shape 16"/>
          <p:cNvSpPr/>
          <p:nvPr/>
        </p:nvSpPr>
        <p:spPr>
          <a:xfrm>
            <a:off x="868680" y="5349240"/>
            <a:ext cx="10634040" cy="502560"/>
          </a:xfrm>
          <a:prstGeom prst="rect">
            <a:avLst/>
          </a:prstGeom>
          <a:solidFill>
            <a:srgbClr val="eef0f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Text 17"/>
          <p:cNvSpPr/>
          <p:nvPr/>
        </p:nvSpPr>
        <p:spPr>
          <a:xfrm>
            <a:off x="1051560" y="5349240"/>
            <a:ext cx="10268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350" spc="-1" strike="noStrike">
                <a:solidFill>
                  <a:srgbClr val="6b6e85"/>
                </a:solidFill>
                <a:latin typeface="Microsoft JhengHei"/>
                <a:ea typeface="Microsoft JhengHei"/>
              </a:rPr>
              <a:t>建議問題：誰需要批准？這份文件在說什麼？有哪些注意事項？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Shape 18"/>
          <p:cNvSpPr/>
          <p:nvPr/>
        </p:nvSpPr>
        <p:spPr>
          <a:xfrm>
            <a:off x="868680" y="5989320"/>
            <a:ext cx="10634040" cy="502560"/>
          </a:xfrm>
          <a:prstGeom prst="rect">
            <a:avLst/>
          </a:prstGeom>
          <a:solidFill>
            <a:srgbClr val="eef0f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Text 19"/>
          <p:cNvSpPr/>
          <p:nvPr/>
        </p:nvSpPr>
        <p:spPr>
          <a:xfrm>
            <a:off x="1051560" y="5989320"/>
            <a:ext cx="10268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350" spc="-1" strike="noStrike">
                <a:solidFill>
                  <a:srgbClr val="d92d20"/>
                </a:solidFill>
                <a:latin typeface="Microsoft JhengHei"/>
                <a:ea typeface="Microsoft JhengHei"/>
              </a:rPr>
              <a:t>提醒：文件未提及時，系統會明確表示無法依文件確認。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Shape 0"/>
          <p:cNvSpPr/>
          <p:nvPr/>
        </p:nvSpPr>
        <p:spPr>
          <a:xfrm>
            <a:off x="0" y="0"/>
            <a:ext cx="12188520" cy="95976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Shape 1"/>
          <p:cNvSpPr/>
          <p:nvPr/>
        </p:nvSpPr>
        <p:spPr>
          <a:xfrm>
            <a:off x="0" y="960120"/>
            <a:ext cx="145800" cy="589752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Text 2"/>
          <p:cNvSpPr/>
          <p:nvPr/>
        </p:nvSpPr>
        <p:spPr>
          <a:xfrm>
            <a:off x="548640" y="1098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28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工具箱：翻譯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Shape 3"/>
          <p:cNvSpPr/>
          <p:nvPr/>
        </p:nvSpPr>
        <p:spPr>
          <a:xfrm>
            <a:off x="868680" y="1325880"/>
            <a:ext cx="10515240" cy="2285640"/>
          </a:xfrm>
          <a:prstGeom prst="rect">
            <a:avLst/>
          </a:prstGeom>
          <a:solidFill>
            <a:srgbClr val="f0f2fa"/>
          </a:solidFill>
          <a:ln w="9525">
            <a:solidFill>
              <a:srgbClr val="dde1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Shape 4"/>
          <p:cNvSpPr/>
          <p:nvPr/>
        </p:nvSpPr>
        <p:spPr>
          <a:xfrm>
            <a:off x="868680" y="1325880"/>
            <a:ext cx="68400" cy="228564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Text 5"/>
          <p:cNvSpPr/>
          <p:nvPr/>
        </p:nvSpPr>
        <p:spPr>
          <a:xfrm>
            <a:off x="1124640" y="1472040"/>
            <a:ext cx="10058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8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翻譯工具（語意處理）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Text 6"/>
          <p:cNvSpPr/>
          <p:nvPr/>
        </p:nvSpPr>
        <p:spPr>
          <a:xfrm>
            <a:off x="1124640" y="1892880"/>
            <a:ext cx="10058040" cy="157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5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來源可自動偵測或指定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5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英／繁中／簡中，可用 ⇄ 互換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5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一般／技術／商務／中英對照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Shape 7"/>
          <p:cNvSpPr/>
          <p:nvPr/>
        </p:nvSpPr>
        <p:spPr>
          <a:xfrm>
            <a:off x="868680" y="3840480"/>
            <a:ext cx="10515240" cy="1691280"/>
          </a:xfrm>
          <a:prstGeom prst="rect">
            <a:avLst/>
          </a:prstGeom>
          <a:solidFill>
            <a:srgbClr val="f0f2fa"/>
          </a:solidFill>
          <a:ln w="9525">
            <a:solidFill>
              <a:srgbClr val="dde1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Shape 8"/>
          <p:cNvSpPr/>
          <p:nvPr/>
        </p:nvSpPr>
        <p:spPr>
          <a:xfrm>
            <a:off x="868680" y="3840480"/>
            <a:ext cx="68400" cy="169128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" name="Text 9"/>
          <p:cNvSpPr/>
          <p:nvPr/>
        </p:nvSpPr>
        <p:spPr>
          <a:xfrm>
            <a:off x="1124640" y="3986640"/>
            <a:ext cx="10058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8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翻譯會原樣保留的內容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Text 10"/>
          <p:cNvSpPr/>
          <p:nvPr/>
        </p:nvSpPr>
        <p:spPr>
          <a:xfrm>
            <a:off x="1124640" y="4407480"/>
            <a:ext cx="10058040" cy="97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5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程式碼、</a:t>
            </a:r>
            <a:r>
              <a:rPr b="0" lang="en-US" sz="15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SQL</a:t>
            </a:r>
            <a:r>
              <a:rPr b="0" lang="zh-CN" sz="15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、</a:t>
            </a:r>
            <a:r>
              <a:rPr b="0" lang="en-US" sz="15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JSON Key</a:t>
            </a:r>
            <a:r>
              <a:rPr b="0" lang="zh-CN" sz="15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、</a:t>
            </a:r>
            <a:r>
              <a:rPr b="0" lang="en-US" sz="15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API path </a:t>
            </a:r>
            <a:r>
              <a:rPr b="0" lang="zh-CN" sz="15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與檔名不會被翻譯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Shape 0"/>
          <p:cNvSpPr/>
          <p:nvPr/>
        </p:nvSpPr>
        <p:spPr>
          <a:xfrm>
            <a:off x="0" y="0"/>
            <a:ext cx="12188520" cy="95976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Shape 1"/>
          <p:cNvSpPr/>
          <p:nvPr/>
        </p:nvSpPr>
        <p:spPr>
          <a:xfrm>
            <a:off x="0" y="960120"/>
            <a:ext cx="145800" cy="589752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Text 2"/>
          <p:cNvSpPr/>
          <p:nvPr/>
        </p:nvSpPr>
        <p:spPr>
          <a:xfrm>
            <a:off x="548640" y="1098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28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切換 </a:t>
            </a:r>
            <a:r>
              <a:rPr b="1" lang="en-US" sz="28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Skin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Text 3"/>
          <p:cNvSpPr/>
          <p:nvPr/>
        </p:nvSpPr>
        <p:spPr>
          <a:xfrm>
            <a:off x="868680" y="1188720"/>
            <a:ext cx="10634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9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可依個人偏好更換貓咪外觀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Shape 4"/>
          <p:cNvSpPr/>
          <p:nvPr/>
        </p:nvSpPr>
        <p:spPr>
          <a:xfrm>
            <a:off x="868680" y="2030040"/>
            <a:ext cx="420120" cy="420120"/>
          </a:xfrm>
          <a:prstGeom prst="ellipse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 5"/>
          <p:cNvSpPr/>
          <p:nvPr/>
        </p:nvSpPr>
        <p:spPr>
          <a:xfrm>
            <a:off x="868680" y="203004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1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Text 6"/>
          <p:cNvSpPr/>
          <p:nvPr/>
        </p:nvSpPr>
        <p:spPr>
          <a:xfrm>
            <a:off x="1490400" y="1974960"/>
            <a:ext cx="9920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6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右鍵點選桌面貓咪。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Shape 7"/>
          <p:cNvSpPr/>
          <p:nvPr/>
        </p:nvSpPr>
        <p:spPr>
          <a:xfrm>
            <a:off x="868680" y="2853000"/>
            <a:ext cx="420120" cy="420120"/>
          </a:xfrm>
          <a:prstGeom prst="ellipse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" name="Text 8"/>
          <p:cNvSpPr/>
          <p:nvPr/>
        </p:nvSpPr>
        <p:spPr>
          <a:xfrm>
            <a:off x="868680" y="285300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2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Text 9"/>
          <p:cNvSpPr/>
          <p:nvPr/>
        </p:nvSpPr>
        <p:spPr>
          <a:xfrm>
            <a:off x="1490400" y="2797920"/>
            <a:ext cx="9920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6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開啟「切換 </a:t>
            </a:r>
            <a:r>
              <a:rPr b="0" lang="en-US" sz="16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Skin</a:t>
            </a:r>
            <a:r>
              <a:rPr b="0" lang="zh-CN" sz="16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」子選單。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Shape 10"/>
          <p:cNvSpPr/>
          <p:nvPr/>
        </p:nvSpPr>
        <p:spPr>
          <a:xfrm>
            <a:off x="868680" y="3675960"/>
            <a:ext cx="420120" cy="420120"/>
          </a:xfrm>
          <a:prstGeom prst="ellipse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" name="Text 11"/>
          <p:cNvSpPr/>
          <p:nvPr/>
        </p:nvSpPr>
        <p:spPr>
          <a:xfrm>
            <a:off x="868680" y="367596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3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Text 12"/>
          <p:cNvSpPr/>
          <p:nvPr/>
        </p:nvSpPr>
        <p:spPr>
          <a:xfrm>
            <a:off x="1490400" y="3620880"/>
            <a:ext cx="9920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6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選擇 </a:t>
            </a:r>
            <a:r>
              <a:rPr b="0" lang="en-US" sz="16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bluecat</a:t>
            </a:r>
            <a:r>
              <a:rPr b="0" lang="zh-CN" sz="16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、</a:t>
            </a:r>
            <a:r>
              <a:rPr b="0" lang="en-US" sz="16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cowcat </a:t>
            </a:r>
            <a:r>
              <a:rPr b="0" lang="zh-CN" sz="16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或 </a:t>
            </a:r>
            <a:r>
              <a:rPr b="0" lang="en-US" sz="16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ragdollcat</a:t>
            </a:r>
            <a:r>
              <a:rPr b="0" lang="zh-CN" sz="16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。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Shape 13"/>
          <p:cNvSpPr/>
          <p:nvPr/>
        </p:nvSpPr>
        <p:spPr>
          <a:xfrm>
            <a:off x="868680" y="5349240"/>
            <a:ext cx="10634040" cy="502560"/>
          </a:xfrm>
          <a:prstGeom prst="rect">
            <a:avLst/>
          </a:prstGeom>
          <a:solidFill>
            <a:srgbClr val="eef0f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Text 14"/>
          <p:cNvSpPr/>
          <p:nvPr/>
        </p:nvSpPr>
        <p:spPr>
          <a:xfrm>
            <a:off x="1051560" y="5349240"/>
            <a:ext cx="10268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350" spc="-1" strike="noStrike">
                <a:solidFill>
                  <a:srgbClr val="6b6e85"/>
                </a:solidFill>
                <a:latin typeface="Microsoft JhengHei"/>
                <a:ea typeface="Microsoft JhengHei"/>
              </a:rPr>
              <a:t>切換後立即生效，重新啟動後也會保留最後一次選擇。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Shape 0"/>
          <p:cNvSpPr/>
          <p:nvPr/>
        </p:nvSpPr>
        <p:spPr>
          <a:xfrm>
            <a:off x="0" y="0"/>
            <a:ext cx="12188520" cy="95976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Shape 1"/>
          <p:cNvSpPr/>
          <p:nvPr/>
        </p:nvSpPr>
        <p:spPr>
          <a:xfrm>
            <a:off x="0" y="960120"/>
            <a:ext cx="145800" cy="589752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" name="Text 2"/>
          <p:cNvSpPr/>
          <p:nvPr/>
        </p:nvSpPr>
        <p:spPr>
          <a:xfrm>
            <a:off x="548640" y="1098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28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用量顯示（選用）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Text 3"/>
          <p:cNvSpPr/>
          <p:nvPr/>
        </p:nvSpPr>
        <p:spPr>
          <a:xfrm>
            <a:off x="868680" y="1188720"/>
            <a:ext cx="10634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Claude</a:t>
            </a:r>
            <a:r>
              <a:rPr b="1" lang="zh-CN" sz="19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／</a:t>
            </a:r>
            <a:r>
              <a:rPr b="1" lang="en-US" sz="19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Codex </a:t>
            </a:r>
            <a:r>
              <a:rPr b="1" lang="zh-CN" sz="19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用量可個別開關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Shape 4"/>
          <p:cNvSpPr/>
          <p:nvPr/>
        </p:nvSpPr>
        <p:spPr>
          <a:xfrm>
            <a:off x="868680" y="2075760"/>
            <a:ext cx="10606680" cy="2102760"/>
          </a:xfrm>
          <a:prstGeom prst="rect">
            <a:avLst/>
          </a:prstGeom>
          <a:solidFill>
            <a:srgbClr val="f0f2fa"/>
          </a:solidFill>
          <a:ln w="9525">
            <a:solidFill>
              <a:srgbClr val="dde1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Shape 5"/>
          <p:cNvSpPr/>
          <p:nvPr/>
        </p:nvSpPr>
        <p:spPr>
          <a:xfrm>
            <a:off x="868680" y="2075760"/>
            <a:ext cx="68400" cy="210276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" name="Text 6"/>
          <p:cNvSpPr/>
          <p:nvPr/>
        </p:nvSpPr>
        <p:spPr>
          <a:xfrm>
            <a:off x="1124640" y="2221920"/>
            <a:ext cx="101494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8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重點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Text 7"/>
          <p:cNvSpPr/>
          <p:nvPr/>
        </p:nvSpPr>
        <p:spPr>
          <a:xfrm>
            <a:off x="1124640" y="2642760"/>
            <a:ext cx="10149480" cy="13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不影響聊天或文件問答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未安裝或未登入時顯示 </a:t>
            </a:r>
            <a:r>
              <a:rPr b="0" lang="en-US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No use</a:t>
            </a:r>
            <a:r>
              <a:rPr b="0" lang="zh-CN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，不會查詢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Shape 8"/>
          <p:cNvSpPr/>
          <p:nvPr/>
        </p:nvSpPr>
        <p:spPr>
          <a:xfrm>
            <a:off x="868680" y="5394960"/>
            <a:ext cx="10634040" cy="502560"/>
          </a:xfrm>
          <a:prstGeom prst="rect">
            <a:avLst/>
          </a:prstGeom>
          <a:solidFill>
            <a:srgbClr val="eef0f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 9"/>
          <p:cNvSpPr/>
          <p:nvPr/>
        </p:nvSpPr>
        <p:spPr>
          <a:xfrm>
            <a:off x="1051560" y="5394960"/>
            <a:ext cx="102682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350" spc="-1" strike="noStrike">
                <a:solidFill>
                  <a:srgbClr val="6b6e85"/>
                </a:solidFill>
                <a:latin typeface="Microsoft JhengHei"/>
                <a:ea typeface="Microsoft JhengHei"/>
              </a:rPr>
              <a:t>此功能預設關閉，首次啟用需要在自己的電腦上同意。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0"/>
          <p:cNvSpPr/>
          <p:nvPr/>
        </p:nvSpPr>
        <p:spPr>
          <a:xfrm>
            <a:off x="0" y="0"/>
            <a:ext cx="12188520" cy="95976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" name="Shape 1"/>
          <p:cNvSpPr/>
          <p:nvPr/>
        </p:nvSpPr>
        <p:spPr>
          <a:xfrm>
            <a:off x="0" y="960120"/>
            <a:ext cx="145800" cy="589752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Text 2"/>
          <p:cNvSpPr/>
          <p:nvPr/>
        </p:nvSpPr>
        <p:spPr>
          <a:xfrm>
            <a:off x="548640" y="1098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28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桌寵管理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Text 3"/>
          <p:cNvSpPr/>
          <p:nvPr/>
        </p:nvSpPr>
        <p:spPr>
          <a:xfrm>
            <a:off x="868680" y="1188720"/>
            <a:ext cx="10634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9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維持桌面工作習慣，不必一直開著聊天視窗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Shape 4"/>
          <p:cNvSpPr/>
          <p:nvPr/>
        </p:nvSpPr>
        <p:spPr>
          <a:xfrm>
            <a:off x="868680" y="1938600"/>
            <a:ext cx="10606680" cy="3017160"/>
          </a:xfrm>
          <a:prstGeom prst="rect">
            <a:avLst/>
          </a:prstGeom>
          <a:solidFill>
            <a:srgbClr val="f0f2fa"/>
          </a:solidFill>
          <a:ln w="9525">
            <a:solidFill>
              <a:srgbClr val="dde1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Shape 5"/>
          <p:cNvSpPr/>
          <p:nvPr/>
        </p:nvSpPr>
        <p:spPr>
          <a:xfrm>
            <a:off x="868680" y="1938600"/>
            <a:ext cx="68400" cy="301716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Text 6"/>
          <p:cNvSpPr/>
          <p:nvPr/>
        </p:nvSpPr>
        <p:spPr>
          <a:xfrm>
            <a:off x="1124640" y="2084760"/>
            <a:ext cx="101494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8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可以做的事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Text 7"/>
          <p:cNvSpPr/>
          <p:nvPr/>
        </p:nvSpPr>
        <p:spPr>
          <a:xfrm>
            <a:off x="1124640" y="2505600"/>
            <a:ext cx="10149480" cy="23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左鍵拖曳貓咪或用量徽章，可移到適合的位置；位置會保留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系統匣可顯示／隱藏桌寵、快速提問、開啟文件助手與結束程式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Shape 0"/>
          <p:cNvSpPr/>
          <p:nvPr/>
        </p:nvSpPr>
        <p:spPr>
          <a:xfrm>
            <a:off x="0" y="0"/>
            <a:ext cx="12188520" cy="95976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" name="Shape 1"/>
          <p:cNvSpPr/>
          <p:nvPr/>
        </p:nvSpPr>
        <p:spPr>
          <a:xfrm>
            <a:off x="0" y="960120"/>
            <a:ext cx="145800" cy="589752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" name="Text 2"/>
          <p:cNvSpPr/>
          <p:nvPr/>
        </p:nvSpPr>
        <p:spPr>
          <a:xfrm>
            <a:off x="548640" y="109800"/>
            <a:ext cx="1109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28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安全結束與常見提示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Text 3"/>
          <p:cNvSpPr/>
          <p:nvPr/>
        </p:nvSpPr>
        <p:spPr>
          <a:xfrm>
            <a:off x="868680" y="1188720"/>
            <a:ext cx="10634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9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從系統匣安全關閉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Shape 4"/>
          <p:cNvSpPr/>
          <p:nvPr/>
        </p:nvSpPr>
        <p:spPr>
          <a:xfrm>
            <a:off x="868680" y="1847160"/>
            <a:ext cx="420120" cy="420120"/>
          </a:xfrm>
          <a:prstGeom prst="ellipse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" name="Text 5"/>
          <p:cNvSpPr/>
          <p:nvPr/>
        </p:nvSpPr>
        <p:spPr>
          <a:xfrm>
            <a:off x="868680" y="184716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1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Text 6"/>
          <p:cNvSpPr/>
          <p:nvPr/>
        </p:nvSpPr>
        <p:spPr>
          <a:xfrm>
            <a:off x="1490400" y="1792080"/>
            <a:ext cx="9920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在工作列右下角找到 </a:t>
            </a:r>
            <a:r>
              <a:rPr b="0" lang="en-US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ClaudeCat </a:t>
            </a:r>
            <a:r>
              <a:rPr b="0" lang="zh-CN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圖示。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Shape 7"/>
          <p:cNvSpPr/>
          <p:nvPr/>
        </p:nvSpPr>
        <p:spPr>
          <a:xfrm>
            <a:off x="868680" y="2560320"/>
            <a:ext cx="420120" cy="420120"/>
          </a:xfrm>
          <a:prstGeom prst="ellipse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" name="Text 8"/>
          <p:cNvSpPr/>
          <p:nvPr/>
        </p:nvSpPr>
        <p:spPr>
          <a:xfrm>
            <a:off x="868680" y="256032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2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Text 9"/>
          <p:cNvSpPr/>
          <p:nvPr/>
        </p:nvSpPr>
        <p:spPr>
          <a:xfrm>
            <a:off x="1490400" y="2505600"/>
            <a:ext cx="9920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右鍵選「結束」。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Shape 10"/>
          <p:cNvSpPr/>
          <p:nvPr/>
        </p:nvSpPr>
        <p:spPr>
          <a:xfrm>
            <a:off x="868680" y="3273480"/>
            <a:ext cx="420120" cy="420120"/>
          </a:xfrm>
          <a:prstGeom prst="ellipse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Text 11"/>
          <p:cNvSpPr/>
          <p:nvPr/>
        </p:nvSpPr>
        <p:spPr>
          <a:xfrm>
            <a:off x="868680" y="327348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3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Text 12"/>
          <p:cNvSpPr/>
          <p:nvPr/>
        </p:nvSpPr>
        <p:spPr>
          <a:xfrm>
            <a:off x="1490400" y="3218760"/>
            <a:ext cx="9920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60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確認貓咪已從桌面消失。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Shape 13"/>
          <p:cNvSpPr/>
          <p:nvPr/>
        </p:nvSpPr>
        <p:spPr>
          <a:xfrm>
            <a:off x="868680" y="4114800"/>
            <a:ext cx="10606680" cy="1691280"/>
          </a:xfrm>
          <a:prstGeom prst="rect">
            <a:avLst/>
          </a:prstGeom>
          <a:solidFill>
            <a:srgbClr val="f0f2fa"/>
          </a:solidFill>
          <a:ln w="9525">
            <a:solidFill>
              <a:srgbClr val="dde1f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Shape 14"/>
          <p:cNvSpPr/>
          <p:nvPr/>
        </p:nvSpPr>
        <p:spPr>
          <a:xfrm>
            <a:off x="868680" y="4114800"/>
            <a:ext cx="68400" cy="169128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" name="Text 15"/>
          <p:cNvSpPr/>
          <p:nvPr/>
        </p:nvSpPr>
        <p:spPr>
          <a:xfrm>
            <a:off x="1124640" y="4260960"/>
            <a:ext cx="101494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1800" spc="-1" strike="noStrike">
                <a:solidFill>
                  <a:srgbClr val="5b4fe8"/>
                </a:solidFill>
                <a:latin typeface="Microsoft JhengHei"/>
                <a:ea typeface="Microsoft JhengHei"/>
              </a:rPr>
              <a:t>常見提示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Text 16"/>
          <p:cNvSpPr/>
          <p:nvPr/>
        </p:nvSpPr>
        <p:spPr>
          <a:xfrm>
            <a:off x="1124640" y="4681800"/>
            <a:ext cx="10149480" cy="97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4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缺少模型／服務請聯絡 </a:t>
            </a:r>
            <a:r>
              <a:rPr b="0" lang="en-US" sz="14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IT</a:t>
            </a:r>
            <a:r>
              <a:rPr b="0" lang="zh-CN" sz="14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　　・　掃描型 </a:t>
            </a:r>
            <a:r>
              <a:rPr b="0" lang="en-US" sz="14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PDF </a:t>
            </a:r>
            <a:r>
              <a:rPr b="0" lang="zh-CN" sz="14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需要 </a:t>
            </a:r>
            <a:r>
              <a:rPr b="0" lang="en-US" sz="14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OCR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22000"/>
              </a:lnSpc>
              <a:buClr>
                <a:srgbClr val="1e1f35"/>
              </a:buClr>
              <a:buFont typeface="Symbol" charset="2"/>
              <a:buChar char=""/>
            </a:pPr>
            <a:r>
              <a:rPr b="0" lang="zh-CN" sz="1450" spc="-1" strike="noStrike">
                <a:solidFill>
                  <a:srgbClr val="1e1f35"/>
                </a:solidFill>
                <a:latin typeface="Microsoft JhengHei"/>
                <a:ea typeface="Microsoft JhengHei"/>
              </a:rPr>
              <a:t>文件無資料時，請改問文件確實出現的內容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e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Shape 0"/>
          <p:cNvSpPr/>
          <p:nvPr/>
        </p:nvSpPr>
        <p:spPr>
          <a:xfrm>
            <a:off x="0" y="0"/>
            <a:ext cx="145800" cy="6857640"/>
          </a:xfrm>
          <a:prstGeom prst="rect">
            <a:avLst/>
          </a:prstGeom>
          <a:solidFill>
            <a:srgbClr val="5b4fe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" name="Text 1"/>
          <p:cNvSpPr/>
          <p:nvPr/>
        </p:nvSpPr>
        <p:spPr>
          <a:xfrm>
            <a:off x="548640" y="2011680"/>
            <a:ext cx="11091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9a9cb5"/>
                </a:solidFill>
                <a:latin typeface="Microsoft JhengHei"/>
                <a:ea typeface="Microsoft JhengHei"/>
              </a:rPr>
              <a:t>ClaudeCat </a:t>
            </a:r>
            <a:r>
              <a:rPr b="0" lang="zh-CN" sz="1600" spc="-1" strike="noStrike">
                <a:solidFill>
                  <a:srgbClr val="9a9cb5"/>
                </a:solidFill>
                <a:latin typeface="Microsoft JhengHei"/>
                <a:ea typeface="Microsoft JhengHei"/>
              </a:rPr>
              <a:t>使用者 </a:t>
            </a:r>
            <a:r>
              <a:rPr b="0" lang="en-US" sz="1600" spc="-1" strike="noStrike">
                <a:solidFill>
                  <a:srgbClr val="9a9cb5"/>
                </a:solidFill>
                <a:latin typeface="Microsoft JhengHei"/>
                <a:ea typeface="Microsoft JhengHei"/>
              </a:rPr>
              <a:t>SOP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" name="Text 2"/>
          <p:cNvSpPr/>
          <p:nvPr/>
        </p:nvSpPr>
        <p:spPr>
          <a:xfrm>
            <a:off x="548640" y="2560320"/>
            <a:ext cx="110912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zh-CN" sz="4000" spc="-1" strike="noStrike">
                <a:solidFill>
                  <a:srgbClr val="ffffff"/>
                </a:solidFill>
                <a:latin typeface="Microsoft JhengHei"/>
                <a:ea typeface="Microsoft JhengHei"/>
              </a:rPr>
              <a:t>直接點貓咪提問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Text 3"/>
          <p:cNvSpPr/>
          <p:nvPr/>
        </p:nvSpPr>
        <p:spPr>
          <a:xfrm>
            <a:off x="548640" y="3977640"/>
            <a:ext cx="11091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zh-CN" sz="1700" spc="-1" strike="noStrike">
                <a:solidFill>
                  <a:srgbClr val="8e86f5"/>
                </a:solidFill>
                <a:latin typeface="Microsoft JhengHei"/>
                <a:ea typeface="Microsoft JhengHei"/>
              </a:rPr>
              <a:t>文件助手會附來源　・　關閉請用系統匣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2026-07-24T00:46:33Z</dcterms:created>
  <dc:creator>PptxGenJS</dc:creator>
  <dc:description/>
  <dc:language>en-US</dc:language>
  <cp:lastModifiedBy>PptxGenJS</cp:lastModifiedBy>
  <dcterms:modified xsi:type="dcterms:W3CDTF">2026-07-24T00:46:33Z</dcterms:modified>
  <cp:revision>1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15</vt:r8>
  </property>
  <property fmtid="{D5CDD505-2E9C-101B-9397-08002B2CF9AE}" pid="3" name="PresentationFormat">
    <vt:lpwstr>On-screen Show (16:9)</vt:lpwstr>
  </property>
  <property fmtid="{D5CDD505-2E9C-101B-9397-08002B2CF9AE}" pid="4" name="Slides">
    <vt:r8>15</vt:r8>
  </property>
</Properties>
</file>